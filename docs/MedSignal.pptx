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各位评委、各位老师，大家好。今天我带来的是 MedSignal——一个面向真实医疗场景、专门识别“关键医疗信号”的 AI 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张先生 55 岁，长期加班，压力大、睡不好，可这些都没有客观指标，直到体检报告亮红灯。另一边，基层医生每天要阅上百张片子，8 小时后的漏诊风险显著上升。而我们的患者，面对满纸政策文件，不知道该享受什么待遇。三类关键医疗信号——脑电的、影像的、信息的——正在被错过。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三组数据说明同一个问题：无论脑电、影像还是政策信息，专业信号与普通人之间存在巨大鸿沟。医疗信号的识别与翻译，正是我们切入的真实场景。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所以我们做了 MedSignal。它不只回答问题，它能识别脑电信号、抓取影像病灶、连接政策与报销资源，把“看不见的异常”变成“看得见的行动”。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三层：编排器负责调度，信号识别层覆盖脑电、影像、行为三类关键信号，信息连接层把结果翻译成患者听得懂、用得上的建议，底层由安全守门保障隐私合规。其中脑电卫士和影像卫士是我们的核心创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 Demo。接入 EEG 设备，MedSignal 对脑电做频域分析，输出压力、睡眠等五个维度的客观指标。张先生的“睡不好”第一次有了数字。当指标异常，它主动预警，并自动匹配到相关医疗待遇。引擎已在双源真实公开数据集上验证：PhysioNet 运动想象数据集 + EEGEmotions-27 情绪数据集，加上 289 项单元测试在支撑。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 Demo 是影像识别。AI 在 CT 上自动框出病灶，给出位置、置信度和严重度——但注意，它不是直接出报告。每一处标注都必须由医师逐框确认或驳回，医生还可以点击影像自己加标注。AI 预标注是建议，医师复核才是裁决。这正是医疗 AI 应有的安全边界。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 Demo。MedSignal 分析张先生的用药行为——连续三个月买降糖药，却没复查糖化血红蛋白，慢病管理评分明显下降。系统不是等他来问，而是主动把预警推到他面前。从被动等答案到主动抓信号，这是范式转变。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第四个 Demo 是信息连接层。一张票据上传，报销计算七步走；政策匹配按能省多少钱排序，每一条都有政策原文；多智能体协作——当他同时问“脑电异常怎么省钱”，系统会并行调度脑电卫士和政策参谋，一次回答两个问题。最新能力：动态用户管理，现场新增一个用户，不到十秒，对话、健康画像、数字人体档案全站联动；连续对话会话持久化，服务重启后历史可回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四大创新：多模态信号识别让三类信号统一调度；医师在环确保 AI 永远是助手、医师永远是裁判；可信数据空间保障隐私合规；全链路可解释让每一个决策都有据可查。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医疗产品安全第一。我们明确三条边界：影像报告必须医师复核签字；所有预警都是提示不是诊断；MedSignal 不做处方、不做确诊，危急信号一律引导线下就医。数据方面，用户可以自主授权，全程存证可追溯。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MedSignal 的价值是让健康管理从“等生病”变成“早发现”：基层医生有了 AI 助手，患者有了能看懂信号、拿得到红利的管家。这是对“健康中国”最直接的响应。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商业化分三层：面向医院和医保机构输出识别能力；面向体检、商保、药企提供脱敏数据分析；面向个人基础功能免费、增值服务付费。信号识别是能力底座，数据服务是增长引擎。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落地分三步：先与基层医疗或体检机构试点影像复核，再扩展到多中心和更多信号类型，最后走向医疗器械软件的产品化。关键依赖是真实数据和临床合作，而我们的算法与工作流已经在黑客松版本里完整跑通。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我们团队獫立完成了架构、前后端、EEG 信号处理与医学影像工作流的全部开发，从 0 到 1 把它变成了可运行的产品。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回到张先生的故事。有了 MedSignal，压力有了数字，病灶有人把关，政策红利不再错过。让关键医疗信号，不再被错过。谢谢大家！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MedSignal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4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multi-modal medical signal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332720" cy="4114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2200" b="1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多模态医疗信号智能体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3272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600" b="1">
                <a:solidFill>
                  <a:srgbClr val="C6E6D5"/>
                </a:solidFill>
                <a:latin typeface="Microsoft YaHei"/>
                <a:ea typeface="Microsoft YaHei"/>
                <a:cs typeface="Microsoft YaHei"/>
              </a:rPr>
              <a:t>关键医疗信号识别 × 患者信息连接</a:t>
            </a:r>
          </a:p>
        </p:txBody>
      </p:sp>
      <p:sp>
        <p:nvSpPr>
          <p:cNvPr id="8" name="Oval 7"/>
          <p:cNvSpPr/>
          <p:nvPr/>
        </p:nvSpPr>
        <p:spPr>
          <a:xfrm>
            <a:off x="3626967" y="3749039"/>
            <a:ext cx="1371600" cy="137160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脑波</a:t>
            </a:r>
          </a:p>
        </p:txBody>
      </p:sp>
      <p:sp>
        <p:nvSpPr>
          <p:cNvPr id="9" name="Oval 8"/>
          <p:cNvSpPr/>
          <p:nvPr/>
        </p:nvSpPr>
        <p:spPr>
          <a:xfrm>
            <a:off x="5410047" y="3749039"/>
            <a:ext cx="1371600" cy="137160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影像</a:t>
            </a:r>
          </a:p>
        </p:txBody>
      </p:sp>
      <p:sp>
        <p:nvSpPr>
          <p:cNvPr id="10" name="Oval 9"/>
          <p:cNvSpPr/>
          <p:nvPr/>
        </p:nvSpPr>
        <p:spPr>
          <a:xfrm>
            <a:off x="7193127" y="3749039"/>
            <a:ext cx="1371600" cy="137160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心跳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66360"/>
            <a:ext cx="11247120" cy="2743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三大信号 · 脑电 / 影像 / 行为</a:t>
            </a:r>
          </a:p>
        </p:txBody>
      </p:sp>
      <p:sp>
        <p:nvSpPr>
          <p:cNvPr id="12" name="Oval 11"/>
          <p:cNvSpPr/>
          <p:nvPr/>
        </p:nvSpPr>
        <p:spPr>
          <a:xfrm>
            <a:off x="2451963" y="5577840"/>
            <a:ext cx="868680" cy="86868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脑电</a:t>
            </a:r>
          </a:p>
        </p:txBody>
      </p:sp>
      <p:sp>
        <p:nvSpPr>
          <p:cNvPr id="13" name="Oval 12"/>
          <p:cNvSpPr/>
          <p:nvPr/>
        </p:nvSpPr>
        <p:spPr>
          <a:xfrm>
            <a:off x="3521811" y="5577840"/>
            <a:ext cx="868680" cy="86868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影像</a:t>
            </a:r>
          </a:p>
        </p:txBody>
      </p:sp>
      <p:sp>
        <p:nvSpPr>
          <p:cNvPr id="14" name="Oval 13"/>
          <p:cNvSpPr/>
          <p:nvPr/>
        </p:nvSpPr>
        <p:spPr>
          <a:xfrm>
            <a:off x="4591659" y="5577840"/>
            <a:ext cx="868680" cy="86868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健康</a:t>
            </a:r>
          </a:p>
        </p:txBody>
      </p:sp>
      <p:sp>
        <p:nvSpPr>
          <p:cNvPr id="15" name="Oval 14"/>
          <p:cNvSpPr/>
          <p:nvPr/>
        </p:nvSpPr>
        <p:spPr>
          <a:xfrm>
            <a:off x="5661507" y="5577840"/>
            <a:ext cx="868680" cy="868680"/>
          </a:xfrm>
          <a:prstGeom prst="ellipse">
            <a:avLst/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权益</a:t>
            </a:r>
          </a:p>
        </p:txBody>
      </p:sp>
      <p:sp>
        <p:nvSpPr>
          <p:cNvPr id="16" name="Oval 15"/>
          <p:cNvSpPr/>
          <p:nvPr/>
        </p:nvSpPr>
        <p:spPr>
          <a:xfrm>
            <a:off x="6731355" y="5577840"/>
            <a:ext cx="868680" cy="868680"/>
          </a:xfrm>
          <a:prstGeom prst="ellipse">
            <a:avLst/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报销</a:t>
            </a:r>
          </a:p>
        </p:txBody>
      </p:sp>
      <p:sp>
        <p:nvSpPr>
          <p:cNvPr id="17" name="Oval 16"/>
          <p:cNvSpPr/>
          <p:nvPr/>
        </p:nvSpPr>
        <p:spPr>
          <a:xfrm>
            <a:off x="7801203" y="5577840"/>
            <a:ext cx="868680" cy="868680"/>
          </a:xfrm>
          <a:prstGeom prst="ellipse">
            <a:avLst/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政策</a:t>
            </a:r>
          </a:p>
        </p:txBody>
      </p:sp>
      <p:sp>
        <p:nvSpPr>
          <p:cNvPr id="18" name="Oval 17"/>
          <p:cNvSpPr/>
          <p:nvPr/>
        </p:nvSpPr>
        <p:spPr>
          <a:xfrm>
            <a:off x="8871051" y="5577840"/>
            <a:ext cx="868680" cy="86868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VentureD Hackathon · 医疗赛道      |      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被错过的关键医疗信号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三类真实场景，三类被忽视的医疗信号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5661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74520" y="1371600"/>
            <a:ext cx="731520" cy="73152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12848"/>
            <a:ext cx="320040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张先生 · 55 岁 · 长期加班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200400" cy="9144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压力与睡眠问题没有客观指标，直到体检报告亮红灯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03320"/>
            <a:ext cx="3291840" cy="566928"/>
          </a:xfrm>
          <a:prstGeom prst="roundRect">
            <a:avLst>
              <a:gd name="adj" fmla="val 18000"/>
            </a:avLst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脑电信号：压力/睡眠是看不见的健康信号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34440"/>
            <a:ext cx="35661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15000" y="1371600"/>
            <a:ext cx="731520" cy="73152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12848"/>
            <a:ext cx="320040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基层医生 · 日均阅片上百张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200400" cy="9144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工作 8 小时后漏诊风险显著上升，病灶藏在影像里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703320"/>
            <a:ext cx="3291840" cy="566928"/>
          </a:xfrm>
          <a:prstGeom prst="roundRect">
            <a:avLst>
              <a:gd name="adj" fmla="val 18000"/>
            </a:avLst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影像信号：病灶是藏不住的视觉信号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34440"/>
            <a:ext cx="35661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55480" y="1371600"/>
            <a:ext cx="731520" cy="731520"/>
          </a:xfrm>
          <a:prstGeom prst="ellipse">
            <a:avLst/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12848"/>
            <a:ext cx="320040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普通患者 · 面对满纸政策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06040"/>
            <a:ext cx="3200400" cy="9144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看不懂政策与医疗信息，该享受的待遇一再错过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703320"/>
            <a:ext cx="3291840" cy="566928"/>
          </a:xfrm>
          <a:prstGeom prst="roundRect">
            <a:avLst>
              <a:gd name="adj" fmla="val 18000"/>
            </a:avLst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信息信号：政策红利是拿不到的价值信号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17720"/>
            <a:ext cx="11274552" cy="8686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28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关键医疗信号，正在被错过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医疗信号识别的巨大缺口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三组数据，同一个问题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566160" cy="457200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3566160" cy="42062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脑电信号</a:t>
            </a:r>
          </a:p>
        </p:txBody>
      </p:sp>
      <p:sp>
        <p:nvSpPr>
          <p:cNvPr id="10" name="Oval 9"/>
          <p:cNvSpPr/>
          <p:nvPr/>
        </p:nvSpPr>
        <p:spPr>
          <a:xfrm>
            <a:off x="1828800" y="1874519"/>
            <a:ext cx="822960" cy="82296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3200400" cy="6400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26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持续走高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3108960" cy="15544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中国成年人慢性病患病率持续走高，心理健康与睡眠障碍缺乏可及、客观的早期筛查手段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566160" cy="45720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298448"/>
            <a:ext cx="3566160" cy="42062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影像信号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0" y="1874519"/>
            <a:ext cx="822960" cy="82296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88920"/>
            <a:ext cx="3200400" cy="6400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26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供需失衡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20440"/>
            <a:ext cx="3108960" cy="15544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基层影像医师缺口大，日均阅片量超负荷，早期病灶漏检率不容忽视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8016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280160"/>
            <a:ext cx="3566160" cy="457200"/>
          </a:xfrm>
          <a:prstGeom prst="rect">
            <a:avLst/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298448"/>
            <a:ext cx="3566160" cy="42062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信息信号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0" y="1874519"/>
            <a:ext cx="822960" cy="822960"/>
          </a:xfrm>
          <a:prstGeom prst="ellipse">
            <a:avLst/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788920"/>
            <a:ext cx="3200400" cy="6400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26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红利流失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520440"/>
            <a:ext cx="3108960" cy="15544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大量参保人不知道自己能享受哪些医疗待遇，每年错过的政策红利以千元计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532120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专业信号与普通人之间存在巨大鸿沟 —— 识别与翻译，正是我们的切入点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MedSignal —— 让关键医疗信号，不再被错过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一个能“看信号、抓异常、连资源”的多模态医疗信号智能体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234440"/>
            <a:ext cx="8531352" cy="8686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一句话定位：识别信号 · 抓取异常 · 连接资源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2468880"/>
            <a:ext cx="822960" cy="82296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1568"/>
            <a:ext cx="320040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识别脑电信号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67328"/>
            <a:ext cx="3200400" cy="29260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0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EEG 频域分析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0520"/>
            <a:ext cx="3108960" cy="12801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接入 LSL 兼容设备
FFT + Welch PSD
输出五维健康指标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331720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2468880"/>
            <a:ext cx="822960" cy="82296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401568"/>
            <a:ext cx="320040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识别影像信号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767328"/>
            <a:ext cx="3200400" cy="29260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AI 预标注 + 医师复核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160520"/>
            <a:ext cx="3108960" cy="12801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病灶检测 bbox 框选
医师逐框确认/驳回
结构化报告闭环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331720"/>
            <a:ext cx="35661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2468880"/>
            <a:ext cx="822960" cy="822960"/>
          </a:xfrm>
          <a:prstGeom prst="ellipse">
            <a:avLst/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01568"/>
            <a:ext cx="320040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4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连接患者信息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767328"/>
            <a:ext cx="3200400" cy="29260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00" b="1">
                <a:solidFill>
                  <a:srgbClr val="2C4F7C"/>
                </a:solidFill>
                <a:latin typeface="Microsoft YaHei"/>
                <a:ea typeface="Microsoft YaHei"/>
                <a:cs typeface="Microsoft YaHei"/>
              </a:rPr>
              <a:t>政策 / 报销 / 权益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160520"/>
            <a:ext cx="3108960" cy="12801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政策匹配按省钱排序
报销预审 7 步推导
权益问答一句话查清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15000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识别信号 · 守护健康 · 连接资源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多模态信号识别架构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编排智能体 × 7 个专业智能体 × 安全合规层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74552" cy="68580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编排智能体 Orchestrator —— 意图识别 · 信号路由 · 结果聚合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5486400" cy="2743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20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信号识别层 ⭐ 核心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3566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3200400" cy="3200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脑电卫士 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3200400" cy="8686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EEG 频域分析
五维健康指标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286000"/>
            <a:ext cx="3566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359152"/>
            <a:ext cx="3200400" cy="3200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影像卫士 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97480"/>
            <a:ext cx="3200400" cy="8686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病灶检测 → 预标注
医师复核 → 报告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86000"/>
            <a:ext cx="35661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359152"/>
            <a:ext cx="3200400" cy="3200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健康卫士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3200400" cy="8686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用药/就医模式
慢病风险预警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30752"/>
            <a:ext cx="5486400" cy="2743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200" b="1">
                <a:solidFill>
                  <a:srgbClr val="2C4F7C"/>
                </a:solidFill>
                <a:latin typeface="Microsoft YaHei"/>
                <a:ea typeface="Microsoft YaHei"/>
                <a:cs typeface="Microsoft YaHei"/>
              </a:rPr>
              <a:t>信息连接层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2336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78224"/>
            <a:ext cx="3200400" cy="3200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权益管家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07408"/>
            <a:ext cx="3200400" cy="5943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参保类型/账户余额/报销比例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02336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078224"/>
            <a:ext cx="3200400" cy="3200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报销助手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407408"/>
            <a:ext cx="3200400" cy="5943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票据 OCR + 7 步报销计算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02336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078224"/>
            <a:ext cx="3200400" cy="3200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政策参谋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407408"/>
            <a:ext cx="3200400" cy="5943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按省钱金额排序 + 原文引用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12080"/>
            <a:ext cx="11274552" cy="594360"/>
          </a:xfrm>
          <a:prstGeom prst="roundRect">
            <a:avLst>
              <a:gd name="adj" fmla="val 10000"/>
            </a:avLst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安全合规层 · 安全守门 —— 授权管理 + 可信数据空间 + 区块链存证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25312"/>
            <a:ext cx="11274552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用户输入 → 编排器 → 多智能体并行 → 结果聚合 → 用户 · 会话持久化 · 动态用户全站联动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Demo 1 · 脑电信号识别 —— 看不见的压力有了客观指标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EEG 频域分析 · 五维健康指标 · 主动预警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931920" cy="384048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EEG 设备接入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566160" cy="21945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1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Muse / Emotiv / OpenBCI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4 通道 · 256 Hz 采样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LSL 兼容 · 仿真信号演示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FFT + Welch PSD 频域分析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五频段 δ / θ / α / β / γ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双源真实数据集验证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69080"/>
            <a:ext cx="3566160" cy="1051560"/>
          </a:xfrm>
          <a:prstGeom prst="rect">
            <a:avLst/>
          </a:prstGeom>
          <a:solidFill>
            <a:srgbClr val="10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3566160" cy="10515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000" b="0">
                <a:solidFill>
                  <a:srgbClr val="C6E6D5"/>
                </a:solidFill>
                <a:latin typeface="Microsoft YaHei"/>
                <a:ea typeface="Microsoft YaHei"/>
                <a:cs typeface="Microsoft YaHei"/>
              </a:rPr>
              <a:t>实时波形 · 4 通道滚动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23444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234440"/>
            <a:ext cx="3931920" cy="384048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五维健康指标输出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783080"/>
            <a:ext cx="3566160" cy="566928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783080"/>
            <a:ext cx="2377440" cy="56692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压力指数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783080"/>
            <a:ext cx="914400" cy="56692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6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68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441448"/>
            <a:ext cx="3566160" cy="566928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441448"/>
            <a:ext cx="2377440" cy="56692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注意力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441448"/>
            <a:ext cx="914400" cy="56692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600" b="1">
                <a:solidFill>
                  <a:srgbClr val="2C4F7C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099815"/>
            <a:ext cx="3566160" cy="566928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3099815"/>
            <a:ext cx="2377440" cy="56692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睡眠质量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099815"/>
            <a:ext cx="914400" cy="56692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60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3758183"/>
            <a:ext cx="3566160" cy="566928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758183"/>
            <a:ext cx="2377440" cy="56692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认知负荷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758183"/>
            <a:ext cx="914400" cy="56692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6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71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4416551"/>
            <a:ext cx="3566160" cy="566928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4416551"/>
            <a:ext cx="2377440" cy="56692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情绪状态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416551"/>
            <a:ext cx="914400" cy="56692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600" b="1">
                <a:solidFill>
                  <a:srgbClr val="2C4F7C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1234440"/>
            <a:ext cx="3044952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0" y="1234440"/>
            <a:ext cx="3044952" cy="384048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主动预警</a:t>
            </a:r>
          </a:p>
        </p:txBody>
      </p:sp>
      <p:sp>
        <p:nvSpPr>
          <p:cNvPr id="31" name="Oval 30"/>
          <p:cNvSpPr/>
          <p:nvPr/>
        </p:nvSpPr>
        <p:spPr>
          <a:xfrm>
            <a:off x="9902952" y="1828800"/>
            <a:ext cx="914400" cy="91440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834640"/>
            <a:ext cx="2679192" cy="8229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检测到高压力 + 睡眠不足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703320"/>
            <a:ext cx="2679192" cy="4572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→ 匹配医疗待遇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4206240"/>
            <a:ext cx="2679192" cy="868680"/>
          </a:xfrm>
          <a:prstGeom prst="roundRect">
            <a:avLst>
              <a:gd name="adj" fmla="val 10000"/>
            </a:avLst>
          </a:prstGeom>
          <a:solidFill>
            <a:srgbClr val="EDF7F0"/>
          </a:solidFill>
          <a:ln w="1270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5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睡眠障碍门诊待遇
政策原文引用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486400"/>
            <a:ext cx="11274552" cy="685800"/>
          </a:xfrm>
          <a:prstGeom prst="roundRect">
            <a:avLst>
              <a:gd name="adj" fmla="val 10000"/>
            </a:avLst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双源真实数据集 · PhysioNet 运动想象 + EEGEmotions-27 情绪 · 289 项测试全绿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Demo 2 · 医学影像识别 —— AI 预标注，医师做裁判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⭐ KILLER FEATURE · 人机协同闭环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7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48872" cy="4297680"/>
          </a:xfrm>
          <a:prstGeom prst="rect">
            <a:avLst/>
          </a:prstGeom>
          <a:solidFill>
            <a:srgbClr val="FF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09728" cy="429768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11548872" cy="109728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120640" cy="37033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胸片 / 肺 CT / 脑 MRI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103120"/>
            <a:ext cx="1554480" cy="10972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19"/>
            <a:ext cx="1554480" cy="2286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900" b="1">
                <a:solidFill>
                  <a:srgbClr val="C53030"/>
                </a:solidFill>
                <a:latin typeface="Microsoft YaHei"/>
                <a:ea typeface="Microsoft YaHei"/>
                <a:cs typeface="Microsoft YaHei"/>
              </a:rPr>
              <a:t>高危 0.92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743200"/>
            <a:ext cx="1280160" cy="914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0"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542032"/>
            <a:ext cx="1280160" cy="20116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900" b="1">
                <a:solidFill>
                  <a:srgbClr val="D69E2E"/>
                </a:solidFill>
                <a:latin typeface="Microsoft YaHei"/>
                <a:ea typeface="Microsoft YaHei"/>
                <a:cs typeface="Microsoft YaHei"/>
              </a:rPr>
              <a:t>中危 0.74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3977639"/>
            <a:ext cx="1005840" cy="7315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3794760"/>
            <a:ext cx="1005840" cy="1828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90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低危 0.61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4937760" cy="4572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​AI 检出 3 处病灶 · bbox 按严重度着色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417320"/>
            <a:ext cx="557784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1417320"/>
            <a:ext cx="5577840" cy="384048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医师逐框复核面板</a:t>
            </a:r>
          </a:p>
        </p:txBody>
      </p:sp>
      <p:sp>
        <p:nvSpPr>
          <p:cNvPr id="21" name="Oval 20"/>
          <p:cNvSpPr/>
          <p:nvPr/>
        </p:nvSpPr>
        <p:spPr>
          <a:xfrm>
            <a:off x="6172200" y="1938528"/>
            <a:ext cx="384048" cy="384048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38528"/>
            <a:ext cx="4754880" cy="5486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选择检查类型 → 一键 AI 分析</a:t>
            </a:r>
          </a:p>
        </p:txBody>
      </p:sp>
      <p:sp>
        <p:nvSpPr>
          <p:cNvPr id="23" name="Oval 22"/>
          <p:cNvSpPr/>
          <p:nvPr/>
        </p:nvSpPr>
        <p:spPr>
          <a:xfrm>
            <a:off x="6172200" y="2505456"/>
            <a:ext cx="384048" cy="384048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05456"/>
            <a:ext cx="4754880" cy="5486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AI 检出病灶并 bbox 框选（高危红/中危黄/低危绿）</a:t>
            </a:r>
          </a:p>
        </p:txBody>
      </p:sp>
      <p:sp>
        <p:nvSpPr>
          <p:cNvPr id="25" name="Oval 24"/>
          <p:cNvSpPr/>
          <p:nvPr/>
        </p:nvSpPr>
        <p:spPr>
          <a:xfrm>
            <a:off x="6172200" y="3072384"/>
            <a:ext cx="384048" cy="384048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072384"/>
            <a:ext cx="4754880" cy="5486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医师逐框操作：确认 / 驳回 / 点击影像新增标注</a:t>
            </a:r>
          </a:p>
        </p:txBody>
      </p:sp>
      <p:sp>
        <p:nvSpPr>
          <p:cNvPr id="27" name="Oval 26"/>
          <p:cNvSpPr/>
          <p:nvPr/>
        </p:nvSpPr>
        <p:spPr>
          <a:xfrm>
            <a:off x="6172200" y="3639312"/>
            <a:ext cx="384048" cy="384048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39312"/>
            <a:ext cx="4754880" cy="5486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复核完成 → 生成结构化报告（病灶清单 + 风险等级 + 建议）</a:t>
            </a:r>
          </a:p>
        </p:txBody>
      </p:sp>
      <p:sp>
        <p:nvSpPr>
          <p:cNvPr id="29" name="Oval 28"/>
          <p:cNvSpPr/>
          <p:nvPr/>
        </p:nvSpPr>
        <p:spPr>
          <a:xfrm>
            <a:off x="6172200" y="4206240"/>
            <a:ext cx="384048" cy="384048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206240"/>
            <a:ext cx="4754880" cy="5486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影像异常自动联动相关政策与就诊建议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709160"/>
            <a:ext cx="521208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95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✓ 影像引擎测试通过 · bbox 坐标归一化精度验证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7784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预标注是建议，医师复核是裁决 —— 医疗 AI 应有的安全边界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Demo 3 · 行为信号识别 —— 从被动等待到主动预警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用药 / 就医模式分析 · 慢病风险分级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120640" cy="384048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主动预警推送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874519"/>
            <a:ext cx="640080" cy="640080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74519"/>
            <a:ext cx="384048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400" b="1">
                <a:solidFill>
                  <a:srgbClr val="C53030"/>
                </a:solidFill>
                <a:latin typeface="Microsoft YaHei"/>
                <a:ea typeface="Microsoft YaHei"/>
                <a:cs typeface="Microsoft YaHei"/>
              </a:rPr>
              <a:t>慢病管理评分下降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12848"/>
            <a:ext cx="3840480" cy="3200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连续 3 月购降糖药 · 未复查糖化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1828800" cy="8229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4000" b="1">
                <a:solidFill>
                  <a:srgbClr val="C53030"/>
                </a:solidFill>
                <a:latin typeface="Microsoft YaHei"/>
                <a:ea typeface="Microsoft YaHei"/>
                <a:cs typeface="Microsoft YaHei"/>
              </a:rPr>
              <a:t>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651760"/>
            <a:ext cx="2926080" cy="8229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200" b="1">
                <a:solidFill>
                  <a:srgbClr val="C53030"/>
                </a:solidFill>
                <a:latin typeface="Microsoft YaHei"/>
                <a:ea typeface="Microsoft YaHei"/>
                <a:cs typeface="Microsoft YaHei"/>
              </a:rPr>
              <a:t>↓ 12 分
（基线 70）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4663440" cy="4572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行为信号：用药 + 就医 + 购药模式综合分析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60520"/>
            <a:ext cx="4663440" cy="8686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分级预警：🔴 高风险    🟡 中风险    🟢 低风险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234440"/>
            <a:ext cx="57607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234440"/>
            <a:ext cx="5760720" cy="384048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五维健康画像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920240"/>
            <a:ext cx="960120" cy="914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2359152"/>
            <a:ext cx="960120" cy="658368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852928"/>
            <a:ext cx="1051560" cy="20116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8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用药依从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901952"/>
            <a:ext cx="1051560" cy="20116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9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68312" y="1920240"/>
            <a:ext cx="960120" cy="914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68312" y="2633472"/>
            <a:ext cx="960120" cy="384048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2592" y="2852928"/>
            <a:ext cx="1051560" cy="20116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8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复查频率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1901952"/>
            <a:ext cx="1051560" cy="20116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9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1920240"/>
            <a:ext cx="960120" cy="914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47304" y="2249424"/>
            <a:ext cx="960120" cy="768096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1583" y="2852928"/>
            <a:ext cx="1051560" cy="20116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8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就医规律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1901952"/>
            <a:ext cx="1051560" cy="20116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9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26296" y="1920240"/>
            <a:ext cx="960120" cy="914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26296" y="2578608"/>
            <a:ext cx="960120" cy="438912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576" y="2852928"/>
            <a:ext cx="1051560" cy="20116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8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指标监控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1901952"/>
            <a:ext cx="1051560" cy="20116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9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05288" y="1920240"/>
            <a:ext cx="960120" cy="914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305288" y="2381097"/>
            <a:ext cx="960120" cy="636422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59567" y="2852928"/>
            <a:ext cx="1051560" cy="20116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8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风险评分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9567" y="1901952"/>
            <a:ext cx="1051560" cy="20116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9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58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2999232"/>
            <a:ext cx="5394960" cy="109728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800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（0-100，越高越好）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06440" y="3246120"/>
            <a:ext cx="17830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23659" y="3383280"/>
            <a:ext cx="548640" cy="54864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79" y="4023360"/>
            <a:ext cx="160020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5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复查提醒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79" y="4434840"/>
            <a:ext cx="1600200" cy="7315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建议复查糖化血红蛋白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26679" y="3246120"/>
            <a:ext cx="17830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43899" y="3383280"/>
            <a:ext cx="548640" cy="54864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19" y="4023360"/>
            <a:ext cx="160020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5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饮食调整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19" y="4434840"/>
            <a:ext cx="1600200" cy="7315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低糖饮食 + 运动建议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46920" y="3246120"/>
            <a:ext cx="17830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264140" y="3383280"/>
            <a:ext cx="548640" cy="54864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360" y="4023360"/>
            <a:ext cx="160020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15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申请待遇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4434840"/>
            <a:ext cx="1600200" cy="7315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门诊慢病待遇申请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Demo 4 · 患者信息连接 —— 政策红利看得见、拿得到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报销预审 · 政策匹配 · 权益问答 · 多智能体协作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2743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2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报销预审 · 7 步计算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上传票据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1463040"/>
            <a:ext cx="118872" cy="86868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200" b="1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14630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OCR 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463040"/>
            <a:ext cx="118872" cy="86868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200" b="1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4630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分类汇总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1463040"/>
            <a:ext cx="118872" cy="86868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200" b="1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4630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起付线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1463040"/>
            <a:ext cx="118872" cy="86868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200" b="1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共付比例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463040"/>
            <a:ext cx="118872" cy="86868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200" b="1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4630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封顶线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39528" y="1463040"/>
            <a:ext cx="118872" cy="86868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200" b="1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14630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C6E6D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应报金额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95728"/>
            <a:ext cx="11274552" cy="2743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5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智能提醒：“您可能符合门诊慢病待遇”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743200"/>
            <a:ext cx="7315200" cy="2743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2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政策匹配 · 按省钱金额排序（含政策原文）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6324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154680"/>
            <a:ext cx="320040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门诊慢病待遇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66160"/>
            <a:ext cx="3200400" cy="6400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22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¥2,016 / 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3200400" cy="5029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5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★ 最省钱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06324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154680"/>
            <a:ext cx="320040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大病保险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566160"/>
            <a:ext cx="3200400" cy="6400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¥800 / 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297680"/>
            <a:ext cx="3200400" cy="5029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50" b="1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推荐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06324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154680"/>
            <a:ext cx="320040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家庭账户共济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566160"/>
            <a:ext cx="3200400" cy="6400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¥350 / 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97680"/>
            <a:ext cx="3200400" cy="5029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50" b="1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推荐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3063240"/>
            <a:ext cx="3044952" cy="1874519"/>
          </a:xfrm>
          <a:prstGeom prst="roundRect">
            <a:avLst>
              <a:gd name="adj" fmla="val 8000"/>
            </a:avLst>
          </a:prstGeom>
          <a:solidFill>
            <a:srgbClr val="EDF7F0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30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多智能体协作</a:t>
            </a:r>
          </a:p>
          <a:p>
            <a:pPr algn="ctr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已调度 2 个智能体协同</a:t>
            </a:r>
          </a:p>
          <a:p>
            <a:pPr algn="ctr"/>
            <a:r>
              <a:rPr sz="105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脑电卫士 + 政策参谋</a:t>
            </a:r>
          </a:p>
          <a:p>
            <a:pPr algn="ctr"/>
            <a:r>
              <a:rPr sz="950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“脑电异常怎么省钱” → 并行回答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120640"/>
            <a:ext cx="11274552" cy="566928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权益问答 · 一句话查清：参保类型 / 账户余额 / 报销比例 · 主动提醒缴费年限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70448"/>
            <a:ext cx="11274552" cy="621792"/>
          </a:xfrm>
          <a:prstGeom prst="roundRect">
            <a:avLst>
              <a:gd name="adj" fmla="val 10000"/>
            </a:avLst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现场演示 · 动态新增用户 → 对话/健康画像/数字人体档案全站即时联动（&lt; 10 秒）· 会话持久化重启可回放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四大技术创新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不做黑箱 AI，做医生与患者能信任的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10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63040"/>
            <a:ext cx="4297680" cy="4572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50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多模态信号识别 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937760" cy="10972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1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脑电频域 + 影像病灶 + 行为模式，统一由编排智能体调度，复合意图并行执行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23444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3952" y="1463040"/>
            <a:ext cx="640080" cy="64008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1192" y="1463040"/>
            <a:ext cx="4297680" cy="4572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5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医师在环 Human-in-the-Loop 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194560"/>
            <a:ext cx="4937760" cy="10972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1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AI 影像预标注必须医师逐框复核才能出报告；建议权给 AI，裁决权给人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2044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749039"/>
            <a:ext cx="640080" cy="640080"/>
          </a:xfrm>
          <a:prstGeom prst="ellipse">
            <a:avLst/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49039"/>
            <a:ext cx="4297680" cy="4572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可信数据空间对齐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4937760" cy="10972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1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隐私计算“可用不可见” + 区块链存证，对齐“数据要素 × 医疗健康”国家战略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52044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73952" y="3749039"/>
            <a:ext cx="640080" cy="640080"/>
          </a:xfrm>
          <a:prstGeom prst="ellipse">
            <a:avLst/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3749039"/>
            <a:ext cx="4297680" cy="4572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全链路可解释性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480560"/>
            <a:ext cx="4937760" cy="10972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1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脑电有频域证据 · 影像有 bbox 坐标 · 政策有原文引用 · 报销有步骤推导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52160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不做黑箱 AI，做医生与患者能信任的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医疗安全 · 隐私保护 · 使用边界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医疗产品安全第一 · 明确三条边界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56616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566160" cy="64008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4173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80160"/>
            <a:ext cx="2743200" cy="64008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医疗安全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3108960" cy="31089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影像报告必须医师复核签字</a:t>
            </a:r>
          </a:p>
          <a:p>
            <a:pPr algn="l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AI 预标注仅作辅助建议</a:t>
            </a:r>
          </a:p>
          <a:p>
            <a:pPr algn="l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脑电/健康预警为“提示”非“诊断”</a:t>
            </a:r>
          </a:p>
          <a:p>
            <a:pPr algn="l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明确免责边界声明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56616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566160" cy="640080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4173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280160"/>
            <a:ext cx="2743200" cy="64008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隐私保护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03120"/>
            <a:ext cx="3108960" cy="31089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数据授权管理：用户自主决定</a:t>
            </a:r>
          </a:p>
          <a:p>
            <a:pPr algn="l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隐私计算“可用不可见”</a:t>
            </a:r>
          </a:p>
          <a:p>
            <a:pPr algn="l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区块链存证全链路追溯</a:t>
            </a:r>
          </a:p>
          <a:p>
            <a:pPr algn="l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共享范围可控可撤回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80160"/>
            <a:ext cx="356616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566160" cy="64008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66760" y="14173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280160"/>
            <a:ext cx="2743200" cy="64008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03120"/>
            <a:ext cx="3108960" cy="31089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不支持处方、确诊等替代医疗</a:t>
            </a:r>
          </a:p>
          <a:p>
            <a:pPr algn="l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危急信号引导线下就医</a:t>
            </a:r>
          </a:p>
          <a:p>
            <a:pPr algn="l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产品内置边界声明</a:t>
            </a:r>
          </a:p>
          <a:p>
            <a:pPr algn="l"/>
            <a:r>
              <a:rPr sz="11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不做决策只做提示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32120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7180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50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产品使用边界声明：本产品所有输出均为健康提示，不构成医疗诊断或处方建议，危急情况请立即就医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从“等生病”到“早发现”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范式转变：主动抓信号，提前捕捉异常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0352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303520" cy="384048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范式对比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300" b="1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被动 · 等生病</a:t>
            </a:r>
          </a:p>
          <a:p>
            <a:pPr algn="ctr"/>
            <a:r>
              <a:rPr sz="1000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无症状不检查 → 出现症状才就医 → 成本高、发现晚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4754880" cy="1097280"/>
          </a:xfrm>
          <a:prstGeom prst="roundRect">
            <a:avLst>
              <a:gd name="adj" fmla="val 10000"/>
            </a:avLst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主动 · 早发现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脑电/影像/行为信号提前捕捉异常 → 降低发现成本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28016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72200" y="1463039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444751"/>
            <a:ext cx="1874519" cy="4572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早发现早干预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93391"/>
            <a:ext cx="2286000" cy="5029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三类信号提前捕捉异常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28016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98280" y="1463039"/>
            <a:ext cx="457200" cy="457200"/>
          </a:xfrm>
          <a:prstGeom prst="ellipse">
            <a:avLst/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1444751"/>
            <a:ext cx="1874519" cy="4572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基层赋能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93391"/>
            <a:ext cx="2286000" cy="5029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AI 预标注缓解阅片压力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274320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72200" y="2926080"/>
            <a:ext cx="457200" cy="45720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907792"/>
            <a:ext cx="1874519" cy="4572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信息普惠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56432"/>
            <a:ext cx="2286000" cy="5029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翻译成患者看得懂的“人话”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74320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98280" y="2926080"/>
            <a:ext cx="457200" cy="457200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907792"/>
            <a:ext cx="1874519" cy="45720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数据价值释放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456432"/>
            <a:ext cx="2286000" cy="5029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隐私计算下释放数据要素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51960"/>
            <a:ext cx="3566160" cy="777240"/>
          </a:xfrm>
          <a:prstGeom prst="roundRect">
            <a:avLst>
              <a:gd name="adj" fmla="val 10000"/>
            </a:avLst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早发现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251960"/>
            <a:ext cx="3566160" cy="77724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强基层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251960"/>
            <a:ext cx="3566160" cy="777240"/>
          </a:xfrm>
          <a:prstGeom prst="roundRect">
            <a:avLst>
              <a:gd name="adj" fmla="val 10000"/>
            </a:avLst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惠民生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57800"/>
            <a:ext cx="932688" cy="411480"/>
          </a:xfrm>
          <a:prstGeom prst="roundRect">
            <a:avLst>
              <a:gd name="adj" fmla="val 30000"/>
            </a:avLst>
          </a:prstGeom>
          <a:solidFill>
            <a:srgbClr val="F7FAFC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数据要素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72768" y="5257800"/>
            <a:ext cx="932688" cy="411480"/>
          </a:xfrm>
          <a:prstGeom prst="roundRect">
            <a:avLst>
              <a:gd name="adj" fmla="val 30000"/>
            </a:avLst>
          </a:prstGeom>
          <a:solidFill>
            <a:srgbClr val="F7FAFC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健康中国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88336" y="5257800"/>
            <a:ext cx="932688" cy="411480"/>
          </a:xfrm>
          <a:prstGeom prst="roundRect">
            <a:avLst>
              <a:gd name="adj" fmla="val 30000"/>
            </a:avLst>
          </a:prstGeom>
          <a:solidFill>
            <a:srgbClr val="F7FAFC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分级诊疗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03904" y="5257800"/>
            <a:ext cx="1261872" cy="411480"/>
          </a:xfrm>
          <a:prstGeom prst="roundRect">
            <a:avLst>
              <a:gd name="adj" fmla="val 30000"/>
            </a:avLst>
          </a:prstGeom>
          <a:solidFill>
            <a:srgbClr val="F7FAFC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可信数据空间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48656" y="525780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F7FAFC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医疗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三层商业模式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信号识别是能力底座 · 数据服务是增长引擎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52447" y="1600200"/>
            <a:ext cx="8686800" cy="96012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 C · 个人 / 家庭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基础信号识别免费 · 健康管理增值付费</a:t>
            </a:r>
          </a:p>
          <a:p>
            <a:pPr algn="ctr"/>
            <a:r>
              <a:rPr sz="1000" b="1">
                <a:solidFill>
                  <a:srgbClr val="C6E6D5"/>
                </a:solidFill>
                <a:latin typeface="Microsoft YaHei"/>
                <a:ea typeface="Microsoft YaHei"/>
                <a:cs typeface="Microsoft YaHei"/>
              </a:rPr>
              <a:t>会员订阅 / 单次服务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5247" y="2606040"/>
            <a:ext cx="9601200" cy="960120"/>
          </a:xfrm>
          <a:prstGeom prst="roundRect">
            <a:avLst>
              <a:gd name="adj" fmla="val 10000"/>
            </a:avLst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 B · 体检 / 商保 / 药企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多模态信号识别能力输出 · 真实世界数据分析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数据服务费 / API 调用（脱敏合规）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047" y="3611880"/>
            <a:ext cx="10515600" cy="960120"/>
          </a:xfrm>
          <a:prstGeom prst="roundRect">
            <a:avLst>
              <a:gd name="adj" fmla="val 10000"/>
            </a:avLst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 G · 医院 / 卫健 / 医保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影像 AI 辅助阅片 · 智能客服替代人工窗口</a:t>
            </a:r>
          </a:p>
          <a:p>
            <a:pPr algn="ctr"/>
            <a:r>
              <a:rPr sz="1000" b="1">
                <a:solidFill>
                  <a:srgbClr val="C6E6D5"/>
                </a:solidFill>
                <a:latin typeface="Microsoft YaHei"/>
                <a:ea typeface="Microsoft YaHei"/>
                <a:cs typeface="Microsoft YaHei"/>
              </a:rPr>
              <a:t>按调用量 / 年服务费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收入结构预估：To G 能力输出为主 · To B 数据服务为增长引擎 · To C 增值订阅为长尾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8640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59552"/>
            <a:ext cx="3108960" cy="3200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20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能力底座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97880"/>
            <a:ext cx="3108960" cy="7772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多模态信号识别统一输出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548640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5559552"/>
            <a:ext cx="3108960" cy="3200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2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增长引擎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897880"/>
            <a:ext cx="3108960" cy="7772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脱敏数据服务 + API 调用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548640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5559552"/>
            <a:ext cx="3108960" cy="3200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2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普惠入口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897880"/>
            <a:ext cx="3108960" cy="7772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To C 免费引流 + 增值变现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从黑客松到真实临床场景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落地三步走 · 关键依赖：真实数据 + 临床合作 + 合规路径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14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63240"/>
            <a:ext cx="10698480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2880360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20240" y="2788920"/>
            <a:ext cx="640080" cy="640080"/>
          </a:xfrm>
          <a:prstGeom prst="ellipse">
            <a:avLst/>
          </a:prstGeom>
          <a:solidFill>
            <a:srgbClr val="38A169"/>
          </a:solidFill>
          <a:ln w="2540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3566160" cy="594360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47288"/>
            <a:ext cx="3200400" cy="5486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Phase 1 · 1–3 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14800"/>
            <a:ext cx="3108960" cy="3200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合作试点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3108960" cy="12801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与基层医疗/体检机构联合试点</a:t>
            </a:r>
          </a:p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影像复核工作流验证</a:t>
            </a:r>
          </a:p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接入真实脱敏数据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2468880"/>
            <a:ext cx="1280160" cy="347472"/>
          </a:xfrm>
          <a:prstGeom prst="roundRect">
            <a:avLst>
              <a:gd name="adj" fmla="val 30000"/>
            </a:avLst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我们在这里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0" y="2880360"/>
            <a:ext cx="457200" cy="457200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342900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429000"/>
            <a:ext cx="3566160" cy="5943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447288"/>
            <a:ext cx="3200400" cy="5486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Phase 2 · 3–6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114800"/>
            <a:ext cx="3108960" cy="3200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多中心扩展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480560"/>
            <a:ext cx="3108960" cy="12801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覆盖 2–3 家医疗机构</a:t>
            </a:r>
          </a:p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扩展影像类型与脑电设备</a:t>
            </a:r>
          </a:p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收集医生/患者反馈迭代</a:t>
            </a:r>
          </a:p>
        </p:txBody>
      </p:sp>
      <p:sp>
        <p:nvSpPr>
          <p:cNvPr id="22" name="Oval 21"/>
          <p:cNvSpPr/>
          <p:nvPr/>
        </p:nvSpPr>
        <p:spPr>
          <a:xfrm>
            <a:off x="9692640" y="2880360"/>
            <a:ext cx="457200" cy="45720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8160" y="342900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D6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429000"/>
            <a:ext cx="3566160" cy="59436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447288"/>
            <a:ext cx="3200400" cy="5486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Phase 3 · 6–12 个月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114800"/>
            <a:ext cx="3108960" cy="3200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产品化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480560"/>
            <a:ext cx="3108960" cy="12801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医疗器械软件（SaMD）注册</a:t>
            </a:r>
          </a:p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可信数据空间规模化部署</a:t>
            </a:r>
          </a:p>
          <a:p>
            <a:pPr algn="l"/>
            <a:r>
              <a:rPr sz="105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• 商业化落地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1274552" cy="59436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关键依赖：真实脱敏数据 · 临床机构合作 · SaMD 合规注册路径 —— 算法与工作流已在黑客松版本完整跑通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424160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424160" cy="329184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MedSignal Team · 多模态医疗信号识别团队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274320"/>
            <a:ext cx="100584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r"/>
            <a:r>
              <a:rPr sz="1100" b="0">
                <a:solidFill>
                  <a:srgbClr val="A0AEC0"/>
                </a:solidFill>
                <a:latin typeface="Microsoft YaHei"/>
                <a:ea typeface="Microsoft YaHei"/>
                <a:cs typeface="Microsoft YaHei"/>
              </a:rPr>
              <a:t>15 / 16</a:t>
            </a:r>
          </a:p>
        </p:txBody>
      </p:sp>
      <p:sp>
        <p:nvSpPr>
          <p:cNvPr id="7" name="Oval 6"/>
          <p:cNvSpPr/>
          <p:nvPr/>
        </p:nvSpPr>
        <p:spPr>
          <a:xfrm>
            <a:off x="5090007" y="1554480"/>
            <a:ext cx="2011680" cy="2011680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90007" y="1554480"/>
            <a:ext cx="2011680" cy="201168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32720" cy="41148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MedSignal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全栈开发 + 产品设计 + AI 应用开发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32720" cy="2743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200" b="1">
                <a:solidFill>
                  <a:srgbClr val="1A365D"/>
                </a:solidFill>
                <a:latin typeface="Microsoft YaHei"/>
                <a:ea typeface="Microsoft YaHei"/>
                <a:cs typeface="Microsoft YaHei"/>
              </a:rPr>
              <a:t>技术栈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124712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2C4F7C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9112" y="4937760"/>
            <a:ext cx="1243584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2C4F7C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5576" y="4937760"/>
            <a:ext cx="1243584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2C4F7C"/>
                </a:solidFill>
                <a:latin typeface="Microsoft YaHei"/>
                <a:ea typeface="Microsoft YaHei"/>
                <a:cs typeface="Microsoft YaHei"/>
              </a:rPr>
              <a:t>Next.js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4937760"/>
            <a:ext cx="1005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2C4F7C"/>
                </a:solidFill>
                <a:latin typeface="Microsoft YaHei"/>
                <a:ea typeface="Microsoft YaHei"/>
                <a:cs typeface="Microsoft YaHei"/>
              </a:rPr>
              <a:t>React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9" y="4937760"/>
            <a:ext cx="1719072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Multi-Agent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2" y="4937760"/>
            <a:ext cx="1362456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EEG 信号处理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28048" y="4937760"/>
            <a:ext cx="1243584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38A169"/>
                </a:solidFill>
                <a:latin typeface="Microsoft YaHei"/>
                <a:ea typeface="Microsoft YaHei"/>
                <a:cs typeface="Microsoft YaHei"/>
              </a:rPr>
              <a:t>医学影像工作流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124712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2C4F7C"/>
                </a:solidFill>
                <a:latin typeface="Microsoft YaHei"/>
                <a:ea typeface="Microsoft YaHei"/>
                <a:cs typeface="Microsoft YaHei"/>
              </a:rPr>
              <a:t>LLM 应用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39112" y="5486400"/>
            <a:ext cx="1481328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C4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2C4F7C"/>
                </a:solidFill>
                <a:latin typeface="Microsoft YaHei"/>
                <a:ea typeface="Microsoft YaHei"/>
                <a:cs typeface="Microsoft YaHei"/>
              </a:rPr>
              <a:t>Prompt 工程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035040"/>
            <a:ext cx="11274552" cy="594360"/>
          </a:xfrm>
          <a:prstGeom prst="roundRect">
            <a:avLst>
              <a:gd name="adj" fmla="val 10000"/>
            </a:avLst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0 到 1，把想法变成可运行的医疗产品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MedSignal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9445752" cy="1828800"/>
          </a:xfrm>
          <a:prstGeom prst="roundRect">
            <a:avLst>
              <a:gd name="adj" fmla="val 8000"/>
            </a:avLst>
          </a:prstGeom>
          <a:solidFill>
            <a:srgbClr val="102440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让关键医疗信号</a:t>
            </a:r>
          </a:p>
          <a:p>
            <a:pPr algn="ctr"/>
            <a:r>
              <a:rPr sz="3800" b="1">
                <a:solidFill>
                  <a:srgbClr val="DD6B20"/>
                </a:solidFill>
                <a:latin typeface="Microsoft YaHei"/>
                <a:ea typeface="Microsoft YaHei"/>
                <a:cs typeface="Microsoft YaHei"/>
              </a:rPr>
              <a:t>不再被错过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114800"/>
            <a:ext cx="7616952" cy="640080"/>
          </a:xfrm>
          <a:prstGeom prst="roundRect">
            <a:avLst>
              <a:gd name="adj" fmla="val 10000"/>
            </a:avLst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识别信号 · 守护健康 · 连接资源</a:t>
            </a:r>
          </a:p>
        </p:txBody>
      </p:sp>
      <p:sp>
        <p:nvSpPr>
          <p:cNvPr id="7" name="Oval 6"/>
          <p:cNvSpPr/>
          <p:nvPr/>
        </p:nvSpPr>
        <p:spPr>
          <a:xfrm>
            <a:off x="3947007" y="4983480"/>
            <a:ext cx="1188720" cy="118872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脑波</a:t>
            </a:r>
          </a:p>
        </p:txBody>
      </p:sp>
      <p:sp>
        <p:nvSpPr>
          <p:cNvPr id="8" name="Oval 7"/>
          <p:cNvSpPr/>
          <p:nvPr/>
        </p:nvSpPr>
        <p:spPr>
          <a:xfrm>
            <a:off x="5501487" y="4983480"/>
            <a:ext cx="1188720" cy="118872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影像</a:t>
            </a:r>
          </a:p>
        </p:txBody>
      </p:sp>
      <p:sp>
        <p:nvSpPr>
          <p:cNvPr id="9" name="Oval 8"/>
          <p:cNvSpPr/>
          <p:nvPr/>
        </p:nvSpPr>
        <p:spPr>
          <a:xfrm>
            <a:off x="7055967" y="4983480"/>
            <a:ext cx="1188720" cy="118872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心跳</a:t>
            </a:r>
          </a:p>
        </p:txBody>
      </p:sp>
      <p:sp>
        <p:nvSpPr>
          <p:cNvPr id="10" name="Oval 9"/>
          <p:cNvSpPr/>
          <p:nvPr/>
        </p:nvSpPr>
        <p:spPr>
          <a:xfrm>
            <a:off x="2666847" y="5806440"/>
            <a:ext cx="822960" cy="82296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脑电</a:t>
            </a:r>
          </a:p>
        </p:txBody>
      </p:sp>
      <p:sp>
        <p:nvSpPr>
          <p:cNvPr id="11" name="Oval 10"/>
          <p:cNvSpPr/>
          <p:nvPr/>
        </p:nvSpPr>
        <p:spPr>
          <a:xfrm>
            <a:off x="3672687" y="5806440"/>
            <a:ext cx="822960" cy="82296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影像</a:t>
            </a:r>
          </a:p>
        </p:txBody>
      </p:sp>
      <p:sp>
        <p:nvSpPr>
          <p:cNvPr id="12" name="Oval 11"/>
          <p:cNvSpPr/>
          <p:nvPr/>
        </p:nvSpPr>
        <p:spPr>
          <a:xfrm>
            <a:off x="4678527" y="5806440"/>
            <a:ext cx="822960" cy="822960"/>
          </a:xfrm>
          <a:prstGeom prst="ellipse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健康</a:t>
            </a:r>
          </a:p>
        </p:txBody>
      </p:sp>
      <p:sp>
        <p:nvSpPr>
          <p:cNvPr id="13" name="Oval 12"/>
          <p:cNvSpPr/>
          <p:nvPr/>
        </p:nvSpPr>
        <p:spPr>
          <a:xfrm>
            <a:off x="5684367" y="5806440"/>
            <a:ext cx="822960" cy="822960"/>
          </a:xfrm>
          <a:prstGeom prst="ellipse">
            <a:avLst/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权益</a:t>
            </a:r>
          </a:p>
        </p:txBody>
      </p:sp>
      <p:sp>
        <p:nvSpPr>
          <p:cNvPr id="14" name="Oval 13"/>
          <p:cNvSpPr/>
          <p:nvPr/>
        </p:nvSpPr>
        <p:spPr>
          <a:xfrm>
            <a:off x="6690207" y="5806440"/>
            <a:ext cx="822960" cy="822960"/>
          </a:xfrm>
          <a:prstGeom prst="ellipse">
            <a:avLst/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报销</a:t>
            </a:r>
          </a:p>
        </p:txBody>
      </p:sp>
      <p:sp>
        <p:nvSpPr>
          <p:cNvPr id="15" name="Oval 14"/>
          <p:cNvSpPr/>
          <p:nvPr/>
        </p:nvSpPr>
        <p:spPr>
          <a:xfrm>
            <a:off x="7696047" y="5806440"/>
            <a:ext cx="822960" cy="822960"/>
          </a:xfrm>
          <a:prstGeom prst="ellipse">
            <a:avLst/>
          </a:prstGeom>
          <a:solidFill>
            <a:srgbClr val="2C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政策</a:t>
            </a:r>
          </a:p>
        </p:txBody>
      </p:sp>
      <p:sp>
        <p:nvSpPr>
          <p:cNvPr id="16" name="Oval 15"/>
          <p:cNvSpPr/>
          <p:nvPr/>
        </p:nvSpPr>
        <p:spPr>
          <a:xfrm>
            <a:off x="8701887" y="5806440"/>
            <a:ext cx="822960" cy="82296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ctr"/>
            <a:r>
              <a:rPr sz="1300" b="1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谢谢大家！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