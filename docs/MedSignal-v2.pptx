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7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81"/>
  </p:normalViewPr>
  <p:slideViewPr>
    <p:cSldViewPr snapToGrid="0">
      <p:cViewPr varScale="1">
        <p:scale>
          <a:sx n="116" d="100"/>
          <a:sy n="11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当前评分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用药管理</c:v>
                </c:pt>
                <c:pt idx="1">
                  <c:v>复查依从</c:v>
                </c:pt>
                <c:pt idx="2">
                  <c:v>饮食控制</c:v>
                </c:pt>
                <c:pt idx="3">
                  <c:v>运动监测</c:v>
                </c:pt>
                <c:pt idx="4">
                  <c:v>指标达标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30</c:v>
                </c:pt>
                <c:pt idx="2">
                  <c:v>60</c:v>
                </c:pt>
                <c:pt idx="3">
                  <c:v>50</c:v>
                </c:pt>
                <c:pt idx="4">
                  <c:v>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52952066-6987-4d67-a152-a663e60a9e41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收入占比%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To G</c:v>
                </c:pt>
                <c:pt idx="1">
                  <c:v>To B</c:v>
                </c:pt>
                <c:pt idx="2">
                  <c:v>To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35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ec65ab9-d5e5-431e-bad4-8bb802984b12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各位评委、各位老师，大家好。今天我带来的是 MedSignal——一个面向真实医疗场景、专门识别"关键医疗信号"的 AI 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张先生55岁，长期加班，压力大、睡不好，可这些都没有客观指标，直到体检报告亮红灯。另一边，基层医生每天要阅上百张片子，8小时后的漏诊风险显著上升。而我们的患者，面对满纸政策文件，不知道该享受什么待遇。三类关键医疗信号——脑电的、影像的、信息的——正在被错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三组数据说明同一个问题：无论脑电、影像还是政策信息，专业信号与普通人之间存在巨大鸿沟。医疗信号的识别与翻译，正是我们切入的真实场景。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所以我们做了 MedSignal。它不只回答问题，它能识别脑电信号、抓取影像病灶、连接政策与报销资源，把看不见的异常变成看得见的行动。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分三层：编排器负责调度，信号识别层覆盖脑电、影像、行为三类关键信号，信息连接层把结果翻译成患者听得懂、用得上的建议，底层由安全守门保障隐私合规。其中脑电卫士和影像卫士是我们的核心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个Demo。接入EEG设备，MedSignal对脑电做频域分析，输出压力、睡眠等五个维度的客观指标。张先生的睡不好第一次有了数字。当指标异常，它主动预警，并自动匹配到相关医疗待遇。引擎已在双源真实公开数据集上验证：PhysioNet运动想象数据集 + EEGEmotions-27情绪数据集，加上289项单元测试在支撑。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Demo是影像识别。AI在CT上自动框出病灶，给出位置、置信度和严重度——但注意，它不是直接出报告。每一处标注都必须由医师逐框确认或驳回，医生还可以点击影像自己加标注。AI预标注是建议，医师复核才是裁决。这正是医疗AI应有的安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Demo。MedSignal分析张先生的用药行为——连续三个月买降糖药，却没复查糖化血红蛋白，慢病管理评分明显下降。系统不是等他来问，而是主动把预警推到他面前。从被动等答案到主动抓信号，这是范式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个Demo是信息连接层。一张票据上传，报销计算七步走；政策匹配按能省多少钱排序，每一条都有政策原文；更关键的是多智能体协作——当他同时问脑电异常怎么省钱，系统会并行调度脑电卫士和政策参谋，一次回答两个问题。最新能力：动态用户管理，现场新增一个用户，不到十秒，对话、健康画像、数字人体档案全站联动；连续对话会话持久化，服务重启后历史可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四大创新：多模态信号识别让三类信号统一调度；医师在环确保AI永远是助手、医师永远是裁判；可信数据空间保障隐私合规；全链路可解释让每一个决策都有据可查。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医疗产品安全第一。我们明确三条边界：影像报告必须医师复核签字；所有预警都是提示不是诊断；MedSignal不做处方、不做确诊，危急信号一律引导线下就医。数据方面，用户可以自主授权，全程存证可追溯。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MedSignal的价值是让健康管理从等生病变成早发现：基层医生有了AI助手，患者有了能看懂信号、拿得到红利的管家。这是对健康中国最直接的响应。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商业化分三层：面向医院和医保机构输出识别能力；面向体检、商保、药企提供脱敏数据分析；面向个人基础功能免费、增值服务付费。信号识别是能力底座，数据服务是增长引擎。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落地分三步：先与基层医疗或体检机构试点影像复核，再扩展到多中心和更多信号类型，最后走向医疗器械软件的产品化。关键依赖是真实数据和临床合作，而我们的算法与工作流已经在黑客松版本里完整跑通。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我们团队独立完成了架构、前后端、EEG信号处理与医学影像工作流的全部开发，从0到1把它变成了可运行的产品。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回到张先生的故事。有了 MedSignal，压力有了数字，病灶有人把关，政策红利不再错过。让关键医疗信号，不再被错过。谢谢大家！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3473" y="903968"/>
            <a:ext cx="5970206" cy="262767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MedSignal</a:t>
            </a:r>
            <a:endParaRPr lang="en-US" sz="49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43330" y="4692650"/>
            <a:ext cx="3465195" cy="48450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多模态医疗信号智能体</a:t>
            </a:r>
            <a:endParaRPr lang="en-US" sz="2325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43473" y="5290281"/>
            <a:ext cx="3135630" cy="51686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2026年8月</a:t>
            </a:r>
            <a:endParaRPr lang="en-US" sz="2325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2::s2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2::s2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被错过的关键医疗信号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2::s2_c0"/>
          <p:cNvSpPr/>
          <p:nvPr/>
        </p:nvSpPr>
        <p:spPr>
          <a:xfrm>
            <a:off x="640080" y="1051560"/>
            <a:ext cx="33375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UTO::page-2::s2_img0" descr="slide2_overtime.jpg"/>
          <p:cNvPicPr>
            <a:picLocks noChangeAspect="1"/>
          </p:cNvPicPr>
          <p:nvPr/>
        </p:nvPicPr>
        <p:blipFill>
          <a:blip r:embed="rId1"/>
          <a:srcRect t="350" b="350"/>
          <a:stretch>
            <a:fillRect/>
          </a:stretch>
        </p:blipFill>
        <p:spPr>
          <a:xfrm>
            <a:off x="749808" y="1161288"/>
            <a:ext cx="3118104" cy="1737360"/>
          </a:xfrm>
          <a:prstGeom prst="rect">
            <a:avLst/>
          </a:prstGeom>
        </p:spPr>
      </p:pic>
      <p:sp>
        <p:nvSpPr>
          <p:cNvPr id="6" name="AUTO::page-2::s2_lb0"/>
          <p:cNvSpPr/>
          <p:nvPr/>
        </p:nvSpPr>
        <p:spPr>
          <a:xfrm>
            <a:off x="749808" y="2971800"/>
            <a:ext cx="146304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O::page-2::s2_lb_t0"/>
          <p:cNvSpPr txBox="1"/>
          <p:nvPr/>
        </p:nvSpPr>
        <p:spPr>
          <a:xfrm>
            <a:off x="749808" y="297180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SC" panose="020B0200000000000000" charset="-122"/>
              </a:rPr>
              <a:t>脑电信号</a:t>
            </a:r>
            <a:endParaRPr sz="11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2::s2_sub0"/>
          <p:cNvSpPr txBox="1"/>
          <p:nvPr/>
        </p:nvSpPr>
        <p:spPr>
          <a:xfrm>
            <a:off x="749808" y="3383279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压力/睡眠是看不见的健康信号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9" name="AUTO::page-2::s2_desc0"/>
          <p:cNvSpPr txBox="1"/>
          <p:nvPr/>
        </p:nvSpPr>
        <p:spPr>
          <a:xfrm>
            <a:off x="749808" y="3794760"/>
            <a:ext cx="31181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55岁，长期加班，压力大、睡不好，没有客观指标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2::s2_c1"/>
          <p:cNvSpPr/>
          <p:nvPr/>
        </p:nvSpPr>
        <p:spPr>
          <a:xfrm>
            <a:off x="4251959" y="1051560"/>
            <a:ext cx="33375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AUTO::page-2::s2_img1" descr="slide2_doctor.jpg"/>
          <p:cNvPicPr>
            <a:picLocks noChangeAspect="1"/>
          </p:cNvPicPr>
          <p:nvPr/>
        </p:nvPicPr>
        <p:blipFill>
          <a:blip r:embed="rId2"/>
          <a:srcRect t="8206" b="8206"/>
          <a:stretch>
            <a:fillRect/>
          </a:stretch>
        </p:blipFill>
        <p:spPr>
          <a:xfrm>
            <a:off x="4361688" y="1161288"/>
            <a:ext cx="3118104" cy="1737360"/>
          </a:xfrm>
          <a:prstGeom prst="rect">
            <a:avLst/>
          </a:prstGeom>
        </p:spPr>
      </p:pic>
      <p:sp>
        <p:nvSpPr>
          <p:cNvPr id="12" name="AUTO::page-2::s2_lb1"/>
          <p:cNvSpPr/>
          <p:nvPr/>
        </p:nvSpPr>
        <p:spPr>
          <a:xfrm>
            <a:off x="4361688" y="2971800"/>
            <a:ext cx="146304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::page-2::s2_lb_t1"/>
          <p:cNvSpPr txBox="1"/>
          <p:nvPr/>
        </p:nvSpPr>
        <p:spPr>
          <a:xfrm>
            <a:off x="4361688" y="297180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SC" panose="020B0200000000000000" charset="-122"/>
              </a:rPr>
              <a:t>影像信号</a:t>
            </a:r>
            <a:endParaRPr sz="11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2::s2_sub1"/>
          <p:cNvSpPr txBox="1"/>
          <p:nvPr/>
        </p:nvSpPr>
        <p:spPr>
          <a:xfrm>
            <a:off x="4361688" y="3383279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病灶是藏不住的视觉信号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2::s2_desc1"/>
          <p:cNvSpPr txBox="1"/>
          <p:nvPr/>
        </p:nvSpPr>
        <p:spPr>
          <a:xfrm>
            <a:off x="4361688" y="3794760"/>
            <a:ext cx="31181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基层医生每天阅片上百张，8小时后漏诊风险上升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2::s2_c2"/>
          <p:cNvSpPr/>
          <p:nvPr/>
        </p:nvSpPr>
        <p:spPr>
          <a:xfrm>
            <a:off x="7863840" y="1051560"/>
            <a:ext cx="33375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AUTO::page-2::s2_img2" descr="slide2_patient.jpg"/>
          <p:cNvPicPr>
            <a:picLocks noChangeAspect="1"/>
          </p:cNvPicPr>
          <p:nvPr/>
        </p:nvPicPr>
        <p:blipFill>
          <a:blip r:embed="rId3"/>
          <a:srcRect t="12854" b="12854"/>
          <a:stretch>
            <a:fillRect/>
          </a:stretch>
        </p:blipFill>
        <p:spPr>
          <a:xfrm>
            <a:off x="7973567" y="1161288"/>
            <a:ext cx="3118104" cy="1737360"/>
          </a:xfrm>
          <a:prstGeom prst="rect">
            <a:avLst/>
          </a:prstGeom>
        </p:spPr>
      </p:pic>
      <p:sp>
        <p:nvSpPr>
          <p:cNvPr id="18" name="AUTO::page-2::s2_lb2"/>
          <p:cNvSpPr/>
          <p:nvPr/>
        </p:nvSpPr>
        <p:spPr>
          <a:xfrm>
            <a:off x="7973567" y="2971800"/>
            <a:ext cx="1463040" cy="320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UTO::page-2::s2_lb_t2"/>
          <p:cNvSpPr txBox="1"/>
          <p:nvPr/>
        </p:nvSpPr>
        <p:spPr>
          <a:xfrm>
            <a:off x="7973567" y="297180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SC" panose="020B0200000000000000" charset="-122"/>
              </a:rPr>
              <a:t>信息信号</a:t>
            </a:r>
            <a:endParaRPr sz="11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2::s2_sub2"/>
          <p:cNvSpPr txBox="1"/>
          <p:nvPr/>
        </p:nvSpPr>
        <p:spPr>
          <a:xfrm>
            <a:off x="7973567" y="3383279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政策红利是拿不到的价值信号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21" name="AUTO::page-2::s2_desc2"/>
          <p:cNvSpPr txBox="1"/>
          <p:nvPr/>
        </p:nvSpPr>
        <p:spPr>
          <a:xfrm>
            <a:off x="7973567" y="3794760"/>
            <a:ext cx="31181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患者看不懂政策，该享受的待遇一再错过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2::s2_bot"/>
          <p:cNvSpPr/>
          <p:nvPr/>
        </p:nvSpPr>
        <p:spPr>
          <a:xfrm>
            <a:off x="640080" y="5486400"/>
            <a:ext cx="10908792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UTO::page-2::s2_bot_t"/>
          <p:cNvSpPr txBox="1"/>
          <p:nvPr/>
        </p:nvSpPr>
        <p:spPr>
          <a:xfrm>
            <a:off x="640080" y="548640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SC" panose="020B0200000000000000" charset="-122"/>
              </a:rPr>
              <a:t>关键医疗信号，正在被错过</a:t>
            </a:r>
            <a:endParaRPr sz="16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3::s3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3::s3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医疗信号识别的巨大缺口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3::s3_c0"/>
          <p:cNvSpPr/>
          <p:nvPr/>
        </p:nvSpPr>
        <p:spPr>
          <a:xfrm>
            <a:off x="640080" y="1097280"/>
            <a:ext cx="33375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3::s3_bar0"/>
          <p:cNvSpPr/>
          <p:nvPr/>
        </p:nvSpPr>
        <p:spPr>
          <a:xfrm>
            <a:off x="640080" y="1097280"/>
            <a:ext cx="3337560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3::s3_num0"/>
          <p:cNvSpPr txBox="1"/>
          <p:nvPr/>
        </p:nvSpPr>
        <p:spPr>
          <a:xfrm>
            <a:off x="777240" y="13258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Noto Sans SC" panose="020B0200000000000000" charset="-122"/>
              </a:rPr>
              <a:t>上升</a:t>
            </a:r>
            <a:endParaRPr sz="3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3::s3_icon0"/>
          <p:cNvSpPr txBox="1"/>
          <p:nvPr/>
        </p:nvSpPr>
        <p:spPr>
          <a:xfrm>
            <a:off x="777240" y="19659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3748"/>
                </a:solidFill>
                <a:latin typeface="Noto Sans SC" panose="020B0200000000000000" charset="-122"/>
              </a:rPr>
              <a:t>慢性病</a:t>
            </a:r>
            <a:endParaRPr sz="1300" b="1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3::s3_div0"/>
          <p:cNvSpPr/>
          <p:nvPr/>
        </p:nvSpPr>
        <p:spPr>
          <a:xfrm>
            <a:off x="777240" y="2331720"/>
            <a:ext cx="3063240" cy="18288"/>
          </a:xfrm>
          <a:prstGeom prst="rect">
            <a:avLst/>
          </a:prstGeom>
          <a:noFill/>
          <a:ln w="127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3::s3_t0"/>
          <p:cNvSpPr txBox="1"/>
          <p:nvPr/>
        </p:nvSpPr>
        <p:spPr>
          <a:xfrm>
            <a:off x="777240" y="24231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365D"/>
                </a:solidFill>
                <a:latin typeface="Noto Sans SC" panose="020B0200000000000000" charset="-122"/>
              </a:rPr>
              <a:t>压力相关疾病负担上升</a:t>
            </a:r>
            <a:endParaRPr sz="1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3::s3_d0"/>
          <p:cNvSpPr txBox="1"/>
          <p:nvPr/>
        </p:nvSpPr>
        <p:spPr>
          <a:xfrm>
            <a:off x="777240" y="278892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中国成年人慢性病患病率持续走高，心理健康与睡眠障碍缺乏可及、客观的早期筛查手段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1" name="AUTO::page-3::s3_c1"/>
          <p:cNvSpPr/>
          <p:nvPr/>
        </p:nvSpPr>
        <p:spPr>
          <a:xfrm>
            <a:off x="4251959" y="1097280"/>
            <a:ext cx="33375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UTO::page-3::s3_bar1"/>
          <p:cNvSpPr/>
          <p:nvPr/>
        </p:nvSpPr>
        <p:spPr>
          <a:xfrm>
            <a:off x="4251959" y="1097280"/>
            <a:ext cx="333756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::page-3::s3_num1"/>
          <p:cNvSpPr txBox="1"/>
          <p:nvPr/>
        </p:nvSpPr>
        <p:spPr>
          <a:xfrm>
            <a:off x="4389120" y="13258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DD6B20"/>
                </a:solidFill>
                <a:latin typeface="Noto Sans SC" panose="020B0200000000000000" charset="-122"/>
              </a:rPr>
              <a:t>超负荷</a:t>
            </a:r>
            <a:endParaRPr sz="3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3::s3_icon1"/>
          <p:cNvSpPr txBox="1"/>
          <p:nvPr/>
        </p:nvSpPr>
        <p:spPr>
          <a:xfrm>
            <a:off x="4389120" y="19659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3748"/>
                </a:solidFill>
                <a:latin typeface="Noto Sans SC" panose="020B0200000000000000" charset="-122"/>
              </a:rPr>
              <a:t>影像阅片</a:t>
            </a:r>
            <a:endParaRPr sz="1300" b="1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3::s3_div1"/>
          <p:cNvSpPr/>
          <p:nvPr/>
        </p:nvSpPr>
        <p:spPr>
          <a:xfrm>
            <a:off x="4389120" y="2331720"/>
            <a:ext cx="3063240" cy="18288"/>
          </a:xfrm>
          <a:prstGeom prst="rect">
            <a:avLst/>
          </a:prstGeom>
          <a:noFill/>
          <a:ln w="127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UTO::page-3::s3_t1"/>
          <p:cNvSpPr txBox="1"/>
          <p:nvPr/>
        </p:nvSpPr>
        <p:spPr>
          <a:xfrm>
            <a:off x="4389120" y="24231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影像阅片供需失衡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7" name="AUTO::page-3::s3_d1"/>
          <p:cNvSpPr txBox="1"/>
          <p:nvPr/>
        </p:nvSpPr>
        <p:spPr>
          <a:xfrm>
            <a:off x="4389120" y="278892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基层影像医师缺口大，日均阅片量超负荷，早期病灶漏检率不容忽视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3::s3_c2"/>
          <p:cNvSpPr/>
          <p:nvPr/>
        </p:nvSpPr>
        <p:spPr>
          <a:xfrm>
            <a:off x="7863840" y="1097280"/>
            <a:ext cx="33375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UTO::page-3::s3_bar2"/>
          <p:cNvSpPr/>
          <p:nvPr/>
        </p:nvSpPr>
        <p:spPr>
          <a:xfrm>
            <a:off x="7863840" y="1097280"/>
            <a:ext cx="333756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UTO::page-3::s3_num2"/>
          <p:cNvSpPr txBox="1"/>
          <p:nvPr/>
        </p:nvSpPr>
        <p:spPr>
          <a:xfrm>
            <a:off x="8001000" y="13258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38A169"/>
                </a:solidFill>
                <a:latin typeface="Noto Sans SC" panose="020B0200000000000000" charset="-122"/>
              </a:rPr>
              <a:t>千元计</a:t>
            </a:r>
            <a:endParaRPr sz="32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21" name="AUTO::page-3::s3_icon2"/>
          <p:cNvSpPr txBox="1"/>
          <p:nvPr/>
        </p:nvSpPr>
        <p:spPr>
          <a:xfrm>
            <a:off x="8001000" y="19659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3748"/>
                </a:solidFill>
                <a:latin typeface="Noto Sans SC" panose="020B0200000000000000" charset="-122"/>
              </a:rPr>
              <a:t>政策红利</a:t>
            </a:r>
            <a:endParaRPr sz="1300" b="1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3::s3_div2"/>
          <p:cNvSpPr/>
          <p:nvPr/>
        </p:nvSpPr>
        <p:spPr>
          <a:xfrm>
            <a:off x="8001000" y="2331720"/>
            <a:ext cx="3063240" cy="18288"/>
          </a:xfrm>
          <a:prstGeom prst="rect">
            <a:avLst/>
          </a:prstGeom>
          <a:noFill/>
          <a:ln w="127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UTO::page-3::s3_t2"/>
          <p:cNvSpPr txBox="1"/>
          <p:nvPr/>
        </p:nvSpPr>
        <p:spPr>
          <a:xfrm>
            <a:off x="8001000" y="24231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A169"/>
                </a:solidFill>
                <a:latin typeface="Noto Sans SC" panose="020B0200000000000000" charset="-122"/>
              </a:rPr>
              <a:t>政策信息鸿沟</a:t>
            </a:r>
            <a:endParaRPr sz="12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24" name="AUTO::page-3::s3_d2"/>
          <p:cNvSpPr txBox="1"/>
          <p:nvPr/>
        </p:nvSpPr>
        <p:spPr>
          <a:xfrm>
            <a:off x="8001000" y="278892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大量参保人不知道自己能享受哪些医疗待遇，每年错过的政策红利以千元计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5" name="AUTO::page-3::s3_bot"/>
          <p:cNvSpPr txBox="1"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365D"/>
                </a:solidFill>
                <a:latin typeface="Noto Sans SC" panose="020B0200000000000000" charset="-122"/>
              </a:rPr>
              <a:t>专业信号与普通人之间存在巨大鸿沟——医疗信号的识别与翻译，正是 MedSignal 的切入场景</a:t>
            </a:r>
            <a:endParaRPr sz="1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4::s4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4::s4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MedSignal — 让关键医疗信号，不再被错过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pic>
        <p:nvPicPr>
          <p:cNvPr id="4" name="AUTO::page-4::s4_img" descr="slide4_smart_medical.jpg"/>
          <p:cNvPicPr>
            <a:picLocks noChangeAspect="1"/>
          </p:cNvPicPr>
          <p:nvPr/>
        </p:nvPicPr>
        <p:blipFill>
          <a:blip r:embed="rId1"/>
          <a:srcRect t="4667" b="4667"/>
          <a:stretch>
            <a:fillRect/>
          </a:stretch>
        </p:blipFill>
        <p:spPr>
          <a:xfrm>
            <a:off x="4722876" y="2103120"/>
            <a:ext cx="2743200" cy="1554480"/>
          </a:xfrm>
          <a:prstGeom prst="rect">
            <a:avLst/>
          </a:prstGeom>
        </p:spPr>
      </p:pic>
      <p:sp>
        <p:nvSpPr>
          <p:cNvPr id="5" name="AUTO::page-4::s4_lc0"/>
          <p:cNvSpPr/>
          <p:nvPr/>
        </p:nvSpPr>
        <p:spPr>
          <a:xfrm>
            <a:off x="640080" y="1280160"/>
            <a:ext cx="2560320" cy="77724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4::s4_lt0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脑电信号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4::s4_ld0"/>
          <p:cNvSpPr txBox="1"/>
          <p:nvPr/>
        </p:nvSpPr>
        <p:spPr>
          <a:xfrm>
            <a:off x="777240" y="1627631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EEG频域分析，五维健康指标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4::s4_la0"/>
          <p:cNvSpPr/>
          <p:nvPr/>
        </p:nvSpPr>
        <p:spPr>
          <a:xfrm>
            <a:off x="3200400" y="1600200"/>
            <a:ext cx="914400" cy="18288"/>
          </a:xfrm>
          <a:prstGeom prst="rect">
            <a:avLst/>
          </a:prstGeom>
          <a:noFill/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4::s4_lc1"/>
          <p:cNvSpPr/>
          <p:nvPr/>
        </p:nvSpPr>
        <p:spPr>
          <a:xfrm>
            <a:off x="640080" y="2194560"/>
            <a:ext cx="2560320" cy="77724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UTO::page-4::s4_lt1"/>
          <p:cNvSpPr txBox="1"/>
          <p:nvPr/>
        </p:nvSpPr>
        <p:spPr>
          <a:xfrm>
            <a:off x="777240" y="22677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影像信号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1" name="AUTO::page-4::s4_ld1"/>
          <p:cNvSpPr txBox="1"/>
          <p:nvPr/>
        </p:nvSpPr>
        <p:spPr>
          <a:xfrm>
            <a:off x="777240" y="2542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AI病灶检测 + 医师复核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4::s4_la1"/>
          <p:cNvSpPr/>
          <p:nvPr/>
        </p:nvSpPr>
        <p:spPr>
          <a:xfrm>
            <a:off x="3200400" y="2514600"/>
            <a:ext cx="914400" cy="18288"/>
          </a:xfrm>
          <a:prstGeom prst="rect">
            <a:avLst/>
          </a:prstGeom>
          <a:noFill/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::page-4::s4_lc2"/>
          <p:cNvSpPr/>
          <p:nvPr/>
        </p:nvSpPr>
        <p:spPr>
          <a:xfrm>
            <a:off x="640080" y="3108960"/>
            <a:ext cx="2560320" cy="77724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UTO::page-4::s4_lt2"/>
          <p:cNvSpPr txBox="1"/>
          <p:nvPr/>
        </p:nvSpPr>
        <p:spPr>
          <a:xfrm>
            <a:off x="777240" y="31821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行为信号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4::s4_ld2"/>
          <p:cNvSpPr txBox="1"/>
          <p:nvPr/>
        </p:nvSpPr>
        <p:spPr>
          <a:xfrm>
            <a:off x="777240" y="34564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用药模式分析，慢病预警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4::s4_la2"/>
          <p:cNvSpPr/>
          <p:nvPr/>
        </p:nvSpPr>
        <p:spPr>
          <a:xfrm>
            <a:off x="3200400" y="3429000"/>
            <a:ext cx="914400" cy="18288"/>
          </a:xfrm>
          <a:prstGeom prst="rect">
            <a:avLst/>
          </a:prstGeom>
          <a:noFill/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::page-4::s4_rc0"/>
          <p:cNvSpPr/>
          <p:nvPr/>
        </p:nvSpPr>
        <p:spPr>
          <a:xfrm>
            <a:off x="8988552" y="1280160"/>
            <a:ext cx="2560320" cy="77724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UTO::page-4::s4_rt0"/>
          <p:cNvSpPr txBox="1"/>
          <p:nvPr/>
        </p:nvSpPr>
        <p:spPr>
          <a:xfrm>
            <a:off x="9125712" y="13533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A169"/>
                </a:solidFill>
                <a:latin typeface="Noto Sans SC" panose="020B0200000000000000" charset="-122"/>
              </a:rPr>
              <a:t>连接政策</a:t>
            </a:r>
            <a:endParaRPr sz="13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9" name="AUTO::page-4::s4_rd0"/>
          <p:cNvSpPr txBox="1"/>
          <p:nvPr/>
        </p:nvSpPr>
        <p:spPr>
          <a:xfrm>
            <a:off x="9125712" y="1627631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政策匹配/报销预审/权益问答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4::s4_ra0"/>
          <p:cNvSpPr/>
          <p:nvPr/>
        </p:nvSpPr>
        <p:spPr>
          <a:xfrm>
            <a:off x="7466075" y="1600200"/>
            <a:ext cx="914400" cy="18288"/>
          </a:xfrm>
          <a:prstGeom prst="rect">
            <a:avLst/>
          </a:prstGeom>
          <a:noFill/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4::s4_rc1"/>
          <p:cNvSpPr/>
          <p:nvPr/>
        </p:nvSpPr>
        <p:spPr>
          <a:xfrm>
            <a:off x="8988552" y="2194560"/>
            <a:ext cx="2560320" cy="77724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UTO::page-4::s4_rt1"/>
          <p:cNvSpPr txBox="1"/>
          <p:nvPr/>
        </p:nvSpPr>
        <p:spPr>
          <a:xfrm>
            <a:off x="9125712" y="22677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A169"/>
                </a:solidFill>
                <a:latin typeface="Noto Sans SC" panose="020B0200000000000000" charset="-122"/>
              </a:rPr>
              <a:t>主动预警</a:t>
            </a:r>
            <a:endParaRPr sz="13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23" name="AUTO::page-4::s4_rd1"/>
          <p:cNvSpPr txBox="1"/>
          <p:nvPr/>
        </p:nvSpPr>
        <p:spPr>
          <a:xfrm>
            <a:off x="9125712" y="2542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异常信号自动触发推送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4" name="AUTO::page-4::s4_ra1"/>
          <p:cNvSpPr/>
          <p:nvPr/>
        </p:nvSpPr>
        <p:spPr>
          <a:xfrm>
            <a:off x="7466075" y="2514600"/>
            <a:ext cx="914400" cy="18288"/>
          </a:xfrm>
          <a:prstGeom prst="rect">
            <a:avLst/>
          </a:prstGeom>
          <a:noFill/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UTO::page-4::s4_rc2"/>
          <p:cNvSpPr/>
          <p:nvPr/>
        </p:nvSpPr>
        <p:spPr>
          <a:xfrm>
            <a:off x="8988552" y="3108960"/>
            <a:ext cx="2560320" cy="77724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UTO::page-4::s4_rt2"/>
          <p:cNvSpPr txBox="1"/>
          <p:nvPr/>
        </p:nvSpPr>
        <p:spPr>
          <a:xfrm>
            <a:off x="9125712" y="31821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A169"/>
                </a:solidFill>
                <a:latin typeface="Noto Sans SC" panose="020B0200000000000000" charset="-122"/>
              </a:rPr>
              <a:t>可解释性</a:t>
            </a:r>
            <a:endParaRPr sz="13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27" name="AUTO::page-4::s4_rd2"/>
          <p:cNvSpPr txBox="1"/>
          <p:nvPr/>
        </p:nvSpPr>
        <p:spPr>
          <a:xfrm>
            <a:off x="9125712" y="34564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每个结论有据可查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8" name="AUTO::page-4::s4_ra2"/>
          <p:cNvSpPr/>
          <p:nvPr/>
        </p:nvSpPr>
        <p:spPr>
          <a:xfrm>
            <a:off x="7466075" y="3429000"/>
            <a:ext cx="914400" cy="18288"/>
          </a:xfrm>
          <a:prstGeom prst="rect">
            <a:avLst/>
          </a:prstGeom>
          <a:noFill/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UTO::page-4::s4_sl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UTO::page-4::s4_sl_t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SC" panose="020B0200000000000000" charset="-122"/>
              </a:rPr>
              <a:t>识别信号 · 守护健康 · 连接资源</a:t>
            </a:r>
            <a:endParaRPr sz="14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5::s5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5::s5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多模态信号识别架构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5::s5_orch"/>
          <p:cNvSpPr/>
          <p:nvPr/>
        </p:nvSpPr>
        <p:spPr>
          <a:xfrm>
            <a:off x="2011680" y="1051560"/>
            <a:ext cx="8165592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5::s5_orch_t"/>
          <p:cNvSpPr txBox="1"/>
          <p:nvPr/>
        </p:nvSpPr>
        <p:spPr>
          <a:xfrm>
            <a:off x="2011680" y="1051560"/>
            <a:ext cx="81655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SC" panose="020B0200000000000000" charset="-122"/>
              </a:rPr>
              <a:t>编排智能体 Orchestrator — 意图识别 + 信号路由 + 结果聚合</a:t>
            </a:r>
            <a:endParaRPr sz="13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6" name="AUTO::page-5::s5_ar0"/>
          <p:cNvSpPr/>
          <p:nvPr/>
        </p:nvSpPr>
        <p:spPr>
          <a:xfrm>
            <a:off x="3372612" y="1554480"/>
            <a:ext cx="18288" cy="228600"/>
          </a:xfrm>
          <a:prstGeom prst="rect">
            <a:avLst/>
          </a:prstGeom>
          <a:noFill/>
          <a:ln w="254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O::page-5::s5_ar1"/>
          <p:cNvSpPr/>
          <p:nvPr/>
        </p:nvSpPr>
        <p:spPr>
          <a:xfrm>
            <a:off x="6094476" y="1554480"/>
            <a:ext cx="18288" cy="228600"/>
          </a:xfrm>
          <a:prstGeom prst="rect">
            <a:avLst/>
          </a:prstGeom>
          <a:noFill/>
          <a:ln w="254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UTO::page-5::s5_ar2"/>
          <p:cNvSpPr/>
          <p:nvPr/>
        </p:nvSpPr>
        <p:spPr>
          <a:xfrm>
            <a:off x="8816340" y="1554480"/>
            <a:ext cx="18288" cy="228600"/>
          </a:xfrm>
          <a:prstGeom prst="rect">
            <a:avLst/>
          </a:prstGeom>
          <a:noFill/>
          <a:ln w="254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5::s5_a0"/>
          <p:cNvSpPr/>
          <p:nvPr/>
        </p:nvSpPr>
        <p:spPr>
          <a:xfrm>
            <a:off x="2011680" y="1828800"/>
            <a:ext cx="2538983" cy="164592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UTO::page-5::s5_at0"/>
          <p:cNvSpPr txBox="1"/>
          <p:nvPr/>
        </p:nvSpPr>
        <p:spPr>
          <a:xfrm>
            <a:off x="2103120" y="1920240"/>
            <a:ext cx="235610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脑电卫士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1" name="AUTO::page-5::s5_ad0"/>
          <p:cNvSpPr txBox="1"/>
          <p:nvPr/>
        </p:nvSpPr>
        <p:spPr>
          <a:xfrm>
            <a:off x="2103120" y="2286000"/>
            <a:ext cx="23561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EEG频域分析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压力/睡眠/注意力/情绪/认知负荽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五维指标输出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5::s5_st0"/>
          <p:cNvSpPr txBox="1"/>
          <p:nvPr/>
        </p:nvSpPr>
        <p:spPr>
          <a:xfrm>
            <a:off x="4230624" y="187451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D6B20"/>
                </a:solidFill>
                <a:latin typeface="Noto Sans SC" panose="020B0200000000000000" charset="-122"/>
              </a:rPr>
              <a:t>★</a:t>
            </a:r>
            <a:endParaRPr sz="14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3" name="AUTO::page-5::s5_a1"/>
          <p:cNvSpPr/>
          <p:nvPr/>
        </p:nvSpPr>
        <p:spPr>
          <a:xfrm>
            <a:off x="4824984" y="1828800"/>
            <a:ext cx="2538983" cy="1645920"/>
          </a:xfrm>
          <a:prstGeom prst="rect">
            <a:avLst/>
          </a:prstGeom>
          <a:solidFill>
            <a:srgbClr val="FEF5E7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UTO::page-5::s5_at1"/>
          <p:cNvSpPr txBox="1"/>
          <p:nvPr/>
        </p:nvSpPr>
        <p:spPr>
          <a:xfrm>
            <a:off x="4916423" y="1920240"/>
            <a:ext cx="235610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D6B20"/>
                </a:solidFill>
                <a:latin typeface="Noto Sans SC" panose="020B0200000000000000" charset="-122"/>
              </a:rPr>
              <a:t>影像卫士</a:t>
            </a:r>
            <a:endParaRPr sz="13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5::s5_ad1"/>
          <p:cNvSpPr txBox="1"/>
          <p:nvPr/>
        </p:nvSpPr>
        <p:spPr>
          <a:xfrm>
            <a:off x="4916423" y="2286000"/>
            <a:ext cx="23561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AI病灶检测 + 预标注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医师逐框复核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结构化报告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5::s5_st1"/>
          <p:cNvSpPr txBox="1"/>
          <p:nvPr/>
        </p:nvSpPr>
        <p:spPr>
          <a:xfrm>
            <a:off x="7043928" y="187451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D6B20"/>
                </a:solidFill>
                <a:latin typeface="Noto Sans SC" panose="020B0200000000000000" charset="-122"/>
              </a:rPr>
              <a:t>★</a:t>
            </a:r>
            <a:endParaRPr sz="14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7" name="AUTO::page-5::s5_a2"/>
          <p:cNvSpPr/>
          <p:nvPr/>
        </p:nvSpPr>
        <p:spPr>
          <a:xfrm>
            <a:off x="7638287" y="1828800"/>
            <a:ext cx="2538983" cy="164592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UTO::page-5::s5_at2"/>
          <p:cNvSpPr txBox="1"/>
          <p:nvPr/>
        </p:nvSpPr>
        <p:spPr>
          <a:xfrm>
            <a:off x="7729727" y="1920240"/>
            <a:ext cx="235610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A169"/>
                </a:solidFill>
                <a:latin typeface="Noto Sans SC" panose="020B0200000000000000" charset="-122"/>
              </a:rPr>
              <a:t>健康卫士</a:t>
            </a:r>
            <a:endParaRPr sz="13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9" name="AUTO::page-5::s5_ad2"/>
          <p:cNvSpPr txBox="1"/>
          <p:nvPr/>
        </p:nvSpPr>
        <p:spPr>
          <a:xfrm>
            <a:off x="7729727" y="2286000"/>
            <a:ext cx="23561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用药/就医模式分析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慢病风险预警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主动推送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5::s5_info"/>
          <p:cNvSpPr/>
          <p:nvPr/>
        </p:nvSpPr>
        <p:spPr>
          <a:xfrm>
            <a:off x="2011680" y="3749039"/>
            <a:ext cx="4899355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5::s5_info_t"/>
          <p:cNvSpPr txBox="1"/>
          <p:nvPr/>
        </p:nvSpPr>
        <p:spPr>
          <a:xfrm>
            <a:off x="2194560" y="3822191"/>
            <a:ext cx="45335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C5282"/>
                </a:solidFill>
                <a:latin typeface="Noto Sans SC" panose="020B0200000000000000" charset="-122"/>
              </a:rPr>
              <a:t>信息连接层</a:t>
            </a:r>
            <a:endParaRPr sz="1200" b="1" i="0">
              <a:solidFill>
                <a:srgbClr val="2C5282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5::s5_info_d"/>
          <p:cNvSpPr txBox="1"/>
          <p:nvPr/>
        </p:nvSpPr>
        <p:spPr>
          <a:xfrm>
            <a:off x="2194560" y="4096511"/>
            <a:ext cx="45335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权益管家 · 报销助手 · 政策参谋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3" name="AUTO::page-5::s5_safe"/>
          <p:cNvSpPr/>
          <p:nvPr/>
        </p:nvSpPr>
        <p:spPr>
          <a:xfrm>
            <a:off x="7319314" y="3749039"/>
            <a:ext cx="2857957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UTO::page-5::s5_safe_t"/>
          <p:cNvSpPr txBox="1"/>
          <p:nvPr/>
        </p:nvSpPr>
        <p:spPr>
          <a:xfrm>
            <a:off x="7456474" y="3822191"/>
            <a:ext cx="25836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安全合规层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25" name="AUTO::page-5::s5_safe_d"/>
          <p:cNvSpPr txBox="1"/>
          <p:nvPr/>
        </p:nvSpPr>
        <p:spPr>
          <a:xfrm>
            <a:off x="7456474" y="4096511"/>
            <a:ext cx="25836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授权 + 可信数据空间 + 存证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6" name="AUTO::page-5::s5_flow"/>
          <p:cNvSpPr txBox="1"/>
          <p:nvPr/>
        </p:nvSpPr>
        <p:spPr>
          <a:xfrm>
            <a:off x="640080" y="48463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5282"/>
                </a:solidFill>
                <a:latin typeface="Noto Sans SC" panose="020B0200000000000000" charset="-122"/>
              </a:rPr>
              <a:t>用户输入 → 编排器调度 → 多智能体并行 → 聚合结果 → 用户</a:t>
            </a:r>
            <a:endParaRPr sz="1100" b="0" i="0">
              <a:solidFill>
                <a:srgbClr val="2C5282"/>
              </a:solidFill>
              <a:latin typeface="Noto Sans SC" panose="020B0200000000000000" charset="-122"/>
            </a:endParaRPr>
          </a:p>
        </p:txBody>
      </p:sp>
      <p:sp>
        <p:nvSpPr>
          <p:cNvPr id="27" name="AUTO::page-5::s5_hl"/>
          <p:cNvSpPr txBox="1"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★ 脑电卫士 + 影像卫士 = 核心创新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6::s6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6::s6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Demo 1 · 脑电信号识别 — 看不见的压力有了客观指标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6::s6_lc"/>
          <p:cNvSpPr/>
          <p:nvPr/>
        </p:nvSpPr>
        <p:spPr>
          <a:xfrm>
            <a:off x="640080" y="1051560"/>
            <a:ext cx="30175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UTO::page-6::s6_img" descr="slide6_eeg_device.jpg"/>
          <p:cNvPicPr>
            <a:picLocks noChangeAspect="1"/>
          </p:cNvPicPr>
          <p:nvPr/>
        </p:nvPicPr>
        <p:blipFill>
          <a:blip r:embed="rId1"/>
          <a:srcRect t="25490" b="25490"/>
          <a:stretch>
            <a:fillRect/>
          </a:stretch>
        </p:blipFill>
        <p:spPr>
          <a:xfrm>
            <a:off x="749808" y="1161288"/>
            <a:ext cx="2798064" cy="1828800"/>
          </a:xfrm>
          <a:prstGeom prst="rect">
            <a:avLst/>
          </a:prstGeom>
        </p:spPr>
      </p:pic>
      <p:sp>
        <p:nvSpPr>
          <p:cNvPr id="6" name="AUTO::page-6::s6_lt1"/>
          <p:cNvSpPr txBox="1"/>
          <p:nvPr/>
        </p:nvSpPr>
        <p:spPr>
          <a:xfrm>
            <a:off x="749808" y="3063240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365D"/>
                </a:solidFill>
                <a:latin typeface="Noto Sans SC" panose="020B0200000000000000" charset="-122"/>
              </a:rPr>
              <a:t>EEG设备接入</a:t>
            </a:r>
            <a:endParaRPr sz="1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6::s6_ld1"/>
          <p:cNvSpPr txBox="1"/>
          <p:nvPr/>
        </p:nvSpPr>
        <p:spPr>
          <a:xfrm>
            <a:off x="749808" y="3337560"/>
            <a:ext cx="279806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Muse/Emotiv/OpenBCI等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LSL兼容设备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4通道 / 256Hz采样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FFT + Welch PSD频域分析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五频段 δθαβγ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6::s6_rc"/>
          <p:cNvSpPr/>
          <p:nvPr/>
        </p:nvSpPr>
        <p:spPr>
          <a:xfrm>
            <a:off x="3931920" y="1051560"/>
            <a:ext cx="761695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6::s6_rt1"/>
          <p:cNvSpPr txBox="1"/>
          <p:nvPr/>
        </p:nvSpPr>
        <p:spPr>
          <a:xfrm>
            <a:off x="4069080" y="1143000"/>
            <a:ext cx="73426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五维健康指标输出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6::s6_ib0"/>
          <p:cNvSpPr/>
          <p:nvPr/>
        </p:nvSpPr>
        <p:spPr>
          <a:xfrm>
            <a:off x="4069080" y="1508760"/>
            <a:ext cx="1051560" cy="41148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::page-6::s6_it0"/>
          <p:cNvSpPr txBox="1"/>
          <p:nvPr/>
        </p:nvSpPr>
        <p:spPr>
          <a:xfrm>
            <a:off x="4069080" y="15087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压力指数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6::s6_ib1"/>
          <p:cNvSpPr/>
          <p:nvPr/>
        </p:nvSpPr>
        <p:spPr>
          <a:xfrm>
            <a:off x="5257800" y="1508760"/>
            <a:ext cx="1051560" cy="41148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::page-6::s6_it1"/>
          <p:cNvSpPr txBox="1"/>
          <p:nvPr/>
        </p:nvSpPr>
        <p:spPr>
          <a:xfrm>
            <a:off x="5257800" y="15087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注意力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6::s6_ib2"/>
          <p:cNvSpPr/>
          <p:nvPr/>
        </p:nvSpPr>
        <p:spPr>
          <a:xfrm>
            <a:off x="6446520" y="1508760"/>
            <a:ext cx="1051560" cy="41148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UTO::page-6::s6_it2"/>
          <p:cNvSpPr txBox="1"/>
          <p:nvPr/>
        </p:nvSpPr>
        <p:spPr>
          <a:xfrm>
            <a:off x="6446520" y="150876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睡眠质量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6::s6_ib3"/>
          <p:cNvSpPr/>
          <p:nvPr/>
        </p:nvSpPr>
        <p:spPr>
          <a:xfrm>
            <a:off x="4069080" y="2011680"/>
            <a:ext cx="1051560" cy="41148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::page-6::s6_it3"/>
          <p:cNvSpPr txBox="1"/>
          <p:nvPr/>
        </p:nvSpPr>
        <p:spPr>
          <a:xfrm>
            <a:off x="4069080" y="201168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认知负荽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6::s6_ib4"/>
          <p:cNvSpPr/>
          <p:nvPr/>
        </p:nvSpPr>
        <p:spPr>
          <a:xfrm>
            <a:off x="5257800" y="2011680"/>
            <a:ext cx="1051560" cy="41148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UTO::page-6::s6_it4"/>
          <p:cNvSpPr txBox="1"/>
          <p:nvPr/>
        </p:nvSpPr>
        <p:spPr>
          <a:xfrm>
            <a:off x="5257800" y="201168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情绪状态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6::s6_al"/>
          <p:cNvSpPr/>
          <p:nvPr/>
        </p:nvSpPr>
        <p:spPr>
          <a:xfrm>
            <a:off x="3931920" y="3063240"/>
            <a:ext cx="7616952" cy="914400"/>
          </a:xfrm>
          <a:prstGeom prst="rect">
            <a:avLst/>
          </a:prstGeom>
          <a:solidFill>
            <a:srgbClr val="FEF5E7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6::s6_al_t"/>
          <p:cNvSpPr txBox="1"/>
          <p:nvPr/>
        </p:nvSpPr>
        <p:spPr>
          <a:xfrm>
            <a:off x="4069080" y="3108960"/>
            <a:ext cx="73426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⚠ 检测到高压力 + 睡眠不足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6::s6_al_d"/>
          <p:cNvSpPr txBox="1"/>
          <p:nvPr/>
        </p:nvSpPr>
        <p:spPr>
          <a:xfrm>
            <a:off x="4069080" y="3383280"/>
            <a:ext cx="73426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脑电异常 → 主动预警 → 匹配睡眠障碍门诊待遇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3" name="AUTO::page-6::s6_bd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UTO::page-6::s6_bd_t"/>
          <p:cNvSpPr txBox="1"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SC" panose="020B0200000000000000" charset="-122"/>
              </a:rPr>
              <a:t>PhysioNet运动想象 + EEGEmotions-27情绪 · 289项单元测试全绿</a:t>
            </a:r>
            <a:endParaRPr sz="12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7::s7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7::s7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Demo 2 · 医学影像识别 — AI预标注，医师做裁判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7::s7_lc"/>
          <p:cNvSpPr/>
          <p:nvPr/>
        </p:nvSpPr>
        <p:spPr>
          <a:xfrm>
            <a:off x="640080" y="1051560"/>
            <a:ext cx="5029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UTO::page-7::s7_img" descr="slide7_ct_scan.jpg"/>
          <p:cNvPicPr>
            <a:picLocks noChangeAspect="1"/>
          </p:cNvPicPr>
          <p:nvPr/>
        </p:nvPicPr>
        <p:blipFill>
          <a:blip r:embed="rId1"/>
          <a:srcRect t="5640" b="5640"/>
          <a:stretch>
            <a:fillRect/>
          </a:stretch>
        </p:blipFill>
        <p:spPr>
          <a:xfrm>
            <a:off x="749808" y="1161288"/>
            <a:ext cx="4809744" cy="3200400"/>
          </a:xfrm>
          <a:prstGeom prst="rect">
            <a:avLst/>
          </a:prstGeom>
        </p:spPr>
      </p:pic>
      <p:sp>
        <p:nvSpPr>
          <p:cNvPr id="6" name="AUTO::page-7::s7_b1"/>
          <p:cNvSpPr/>
          <p:nvPr/>
        </p:nvSpPr>
        <p:spPr>
          <a:xfrm>
            <a:off x="2011680" y="1828800"/>
            <a:ext cx="914400" cy="731520"/>
          </a:xfrm>
          <a:prstGeom prst="rect">
            <a:avLst/>
          </a:prstGeom>
          <a:noFill/>
          <a:ln w="317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O::page-7::s7_b1_l"/>
          <p:cNvSpPr txBox="1"/>
          <p:nvPr/>
        </p:nvSpPr>
        <p:spPr>
          <a:xfrm>
            <a:off x="2011680" y="18288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53E3E"/>
                </a:solidFill>
                <a:latin typeface="Noto Sans SC" panose="020B0200000000000000" charset="-122"/>
              </a:rPr>
              <a:t>高危 92%</a:t>
            </a:r>
            <a:endParaRPr sz="800" b="1" i="0">
              <a:solidFill>
                <a:srgbClr val="E53E3E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7::s7_b2"/>
          <p:cNvSpPr/>
          <p:nvPr/>
        </p:nvSpPr>
        <p:spPr>
          <a:xfrm>
            <a:off x="3566160" y="2560320"/>
            <a:ext cx="731520" cy="548640"/>
          </a:xfrm>
          <a:prstGeom prst="rect">
            <a:avLst/>
          </a:prstGeom>
          <a:noFill/>
          <a:ln w="317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7::s7_b2_l"/>
          <p:cNvSpPr txBox="1"/>
          <p:nvPr/>
        </p:nvSpPr>
        <p:spPr>
          <a:xfrm>
            <a:off x="3566160" y="25603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69E2E"/>
                </a:solidFill>
                <a:latin typeface="Noto Sans SC" panose="020B0200000000000000" charset="-122"/>
              </a:rPr>
              <a:t>中危 78%</a:t>
            </a:r>
            <a:endParaRPr sz="800" b="1" i="0">
              <a:solidFill>
                <a:srgbClr val="D69E2E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7::s7_img_d"/>
          <p:cNvSpPr txBox="1"/>
          <p:nvPr/>
        </p:nvSpPr>
        <p:spPr>
          <a:xfrm>
            <a:off x="749808" y="4434840"/>
            <a:ext cx="4809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CT影像 + AI bbox框选（红=高危/黄=中危/绿=低危）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1" name="AUTO::page-7::s7_rc"/>
          <p:cNvSpPr/>
          <p:nvPr/>
        </p:nvSpPr>
        <p:spPr>
          <a:xfrm>
            <a:off x="5943600" y="1051560"/>
            <a:ext cx="5605272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UTO::page-7::s7_rt"/>
          <p:cNvSpPr txBox="1"/>
          <p:nvPr/>
        </p:nvSpPr>
        <p:spPr>
          <a:xfrm>
            <a:off x="6080760" y="114300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医师复核操作面板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3" name="AUTO::page-7::s7_ri0"/>
          <p:cNvSpPr txBox="1"/>
          <p:nvPr/>
        </p:nvSpPr>
        <p:spPr>
          <a:xfrm>
            <a:off x="6080760" y="1463040"/>
            <a:ext cx="5330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✔ AI检出病灶 → bbox框选 + 置信度 + 严重度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7::s7_ri1"/>
          <p:cNvSpPr txBox="1"/>
          <p:nvPr/>
        </p:nvSpPr>
        <p:spPr>
          <a:xfrm>
            <a:off x="6080760" y="1874520"/>
            <a:ext cx="5330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✔ 医师逐框复核：确认 / 驳回 / 新增标注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7::s7_ri2"/>
          <p:cNvSpPr txBox="1"/>
          <p:nvPr/>
        </p:nvSpPr>
        <p:spPr>
          <a:xfrm>
            <a:off x="6080760" y="2286000"/>
            <a:ext cx="5330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✔ 复核后生成结构化报告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7::s7_ri3"/>
          <p:cNvSpPr txBox="1"/>
          <p:nvPr/>
        </p:nvSpPr>
        <p:spPr>
          <a:xfrm>
            <a:off x="6080760" y="2697480"/>
            <a:ext cx="5330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✔ 影像异常 → 自动联动政策与就诊建议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7" name="AUTO::page-7::s7_t"/>
          <p:cNvSpPr/>
          <p:nvPr/>
        </p:nvSpPr>
        <p:spPr>
          <a:xfrm>
            <a:off x="5943600" y="3520440"/>
            <a:ext cx="5605272" cy="73152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UTO::page-7::s7_tt"/>
          <p:cNvSpPr txBox="1"/>
          <p:nvPr/>
        </p:nvSpPr>
        <p:spPr>
          <a:xfrm>
            <a:off x="6080760" y="358444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A169"/>
                </a:solidFill>
                <a:latin typeface="Noto Sans SC" panose="020B0200000000000000" charset="-122"/>
              </a:rPr>
              <a:t>测试结果</a:t>
            </a:r>
            <a:endParaRPr sz="12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9" name="AUTO::page-7::s7_td"/>
          <p:cNvSpPr txBox="1"/>
          <p:nvPr/>
        </p:nvSpPr>
        <p:spPr>
          <a:xfrm>
            <a:off x="6080760" y="3840480"/>
            <a:ext cx="53309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影像引擎测试全部通过 · bbox归一化坐标精度验证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7::s7_sl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7::s7_sl_t"/>
          <p:cNvSpPr txBox="1"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SC" panose="020B0200000000000000" charset="-122"/>
              </a:rPr>
              <a:t>AI 预标注是建议，医师复核是裁决</a:t>
            </a:r>
            <a:endParaRPr sz="15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8::s8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8::s8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Demo 3 · 行为信号识别 — 从被动等待到主动预警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8::s8_lc"/>
          <p:cNvSpPr/>
          <p:nvPr/>
        </p:nvSpPr>
        <p:spPr>
          <a:xfrm>
            <a:off x="640080" y="1051560"/>
            <a:ext cx="41148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8::s8_ai"/>
          <p:cNvSpPr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8::s8_al"/>
          <p:cNvSpPr txBox="1"/>
          <p:nvPr/>
        </p:nvSpPr>
        <p:spPr>
          <a:xfrm>
            <a:off x="777240" y="1188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SC" panose="020B0200000000000000" charset="-122"/>
              </a:rPr>
              <a:t>⚠ 高风险预警</a:t>
            </a:r>
            <a:endParaRPr sz="11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8::s8_sc"/>
          <p:cNvSpPr txBox="1"/>
          <p:nvPr/>
        </p:nvSpPr>
        <p:spPr>
          <a:xfrm>
            <a:off x="777240" y="16916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53E3E"/>
                </a:solidFill>
                <a:latin typeface="Noto Sans SC" panose="020B0200000000000000" charset="-122"/>
              </a:rPr>
              <a:t>慢病管理评分58分</a:t>
            </a:r>
            <a:endParaRPr sz="2200" b="1" i="0">
              <a:solidFill>
                <a:srgbClr val="E53E3E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8::s8_sd"/>
          <p:cNvSpPr txBox="1"/>
          <p:nvPr/>
        </p:nvSpPr>
        <p:spPr>
          <a:xfrm>
            <a:off x="777240" y="22860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53E3E"/>
                </a:solidFill>
                <a:latin typeface="Noto Sans SC" panose="020B0200000000000000" charset="-122"/>
              </a:rPr>
              <a:t>↓ 较上次下降12分</a:t>
            </a:r>
            <a:endParaRPr sz="1200" b="0" i="0">
              <a:solidFill>
                <a:srgbClr val="E53E3E"/>
              </a:solidFill>
              <a:latin typeface="Noto Sans SC" panose="020B0200000000000000" charset="-122"/>
            </a:endParaRPr>
          </a:p>
        </p:txBody>
      </p:sp>
      <p:sp>
        <p:nvSpPr>
          <p:cNvPr id="9" name="AUTO::page-8::s8_dt"/>
          <p:cNvSpPr txBox="1"/>
          <p:nvPr/>
        </p:nvSpPr>
        <p:spPr>
          <a:xfrm>
            <a:off x="777240" y="2651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365D"/>
                </a:solidFill>
                <a:latin typeface="Noto Sans SC" panose="020B0200000000000000" charset="-122"/>
              </a:rPr>
              <a:t>行为信号分析</a:t>
            </a:r>
            <a:endParaRPr sz="1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8::s8_dd"/>
          <p:cNvSpPr txBox="1"/>
          <p:nvPr/>
        </p:nvSpPr>
        <p:spPr>
          <a:xfrm>
            <a:off x="777240" y="2926080"/>
            <a:ext cx="38404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连续3个月购买降糖药物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未复查糖化血红蛋白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用药规律但管理缺失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→ 慢病管理评分下降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1" name="AUTO::page-8::s8_rc"/>
          <p:cNvSpPr/>
          <p:nvPr/>
        </p:nvSpPr>
        <p:spPr>
          <a:xfrm>
            <a:off x="5029200" y="1051560"/>
            <a:ext cx="6519672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UTO::page-8::s8_rdt"/>
          <p:cNvSpPr txBox="1"/>
          <p:nvPr/>
        </p:nvSpPr>
        <p:spPr>
          <a:xfrm>
            <a:off x="5166360" y="1143000"/>
            <a:ext cx="624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五维健康画像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graphicFrame>
        <p:nvGraphicFramePr>
          <p:cNvPr id="13" name="AUTO::page-8::s8_radar"/>
          <p:cNvGraphicFramePr>
            <a:graphicFrameLocks noGrp="1"/>
          </p:cNvGraphicFramePr>
          <p:nvPr/>
        </p:nvGraphicFramePr>
        <p:xfrm>
          <a:off x="5486400" y="1463040"/>
          <a:ext cx="5605272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AUTO::page-8::s8_sg0"/>
          <p:cNvSpPr/>
          <p:nvPr/>
        </p:nvSpPr>
        <p:spPr>
          <a:xfrm>
            <a:off x="640080" y="4023360"/>
            <a:ext cx="3499104" cy="91440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UTO::page-8::s8_sgt0"/>
          <p:cNvSpPr txBox="1"/>
          <p:nvPr/>
        </p:nvSpPr>
        <p:spPr>
          <a:xfrm>
            <a:off x="749808" y="4096512"/>
            <a:ext cx="327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A169"/>
                </a:solidFill>
                <a:latin typeface="Noto Sans SC" panose="020B0200000000000000" charset="-122"/>
              </a:rPr>
              <a:t>复查提醒</a:t>
            </a:r>
            <a:endParaRPr sz="12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8::s8_sgd0"/>
          <p:cNvSpPr txBox="1"/>
          <p:nvPr/>
        </p:nvSpPr>
        <p:spPr>
          <a:xfrm>
            <a:off x="749808" y="4389120"/>
            <a:ext cx="3279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建议尽快复查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糖化血红蛋白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7" name="AUTO::page-8::s8_sg1"/>
          <p:cNvSpPr/>
          <p:nvPr/>
        </p:nvSpPr>
        <p:spPr>
          <a:xfrm>
            <a:off x="4322064" y="4023360"/>
            <a:ext cx="3499104" cy="91440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UTO::page-8::s8_sgt1"/>
          <p:cNvSpPr txBox="1"/>
          <p:nvPr/>
        </p:nvSpPr>
        <p:spPr>
          <a:xfrm>
            <a:off x="4431792" y="4096512"/>
            <a:ext cx="327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365D"/>
                </a:solidFill>
                <a:latin typeface="Noto Sans SC" panose="020B0200000000000000" charset="-122"/>
              </a:rPr>
              <a:t>饮食调整</a:t>
            </a:r>
            <a:endParaRPr sz="1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9" name="AUTO::page-8::s8_sgd1"/>
          <p:cNvSpPr txBox="1"/>
          <p:nvPr/>
        </p:nvSpPr>
        <p:spPr>
          <a:xfrm>
            <a:off x="4431792" y="4389120"/>
            <a:ext cx="3279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控制碳水摄入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增加膳食纤维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8::s8_sg2"/>
          <p:cNvSpPr/>
          <p:nvPr/>
        </p:nvSpPr>
        <p:spPr>
          <a:xfrm>
            <a:off x="8004047" y="4023360"/>
            <a:ext cx="3499104" cy="914400"/>
          </a:xfrm>
          <a:prstGeom prst="rect">
            <a:avLst/>
          </a:prstGeom>
          <a:solidFill>
            <a:srgbClr val="FEF5E7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8::s8_sgt2"/>
          <p:cNvSpPr txBox="1"/>
          <p:nvPr/>
        </p:nvSpPr>
        <p:spPr>
          <a:xfrm>
            <a:off x="8113775" y="4096512"/>
            <a:ext cx="3279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6B20"/>
                </a:solidFill>
                <a:latin typeface="Noto Sans SC" panose="020B0200000000000000" charset="-122"/>
              </a:rPr>
              <a:t>申请待遇</a:t>
            </a:r>
            <a:endParaRPr sz="1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8::s8_sgd2"/>
          <p:cNvSpPr txBox="1"/>
          <p:nvPr/>
        </p:nvSpPr>
        <p:spPr>
          <a:xfrm>
            <a:off x="8113775" y="4389120"/>
            <a:ext cx="3279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符合门诊慢病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待遇申请条件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9::s9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9::s9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Demo 4 · 患者信息连接 — 政策红利看得见、拿得到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9::s9_lc"/>
          <p:cNvSpPr/>
          <p:nvPr/>
        </p:nvSpPr>
        <p:spPr>
          <a:xfrm>
            <a:off x="640080" y="1051560"/>
            <a:ext cx="54864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9::s9_lt"/>
          <p:cNvSpPr txBox="1"/>
          <p:nvPr/>
        </p:nvSpPr>
        <p:spPr>
          <a:xfrm>
            <a:off x="777240" y="11430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报销预审流程（7步逐步展示）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6" name="AUTO::page-9::s9_sb0"/>
          <p:cNvSpPr/>
          <p:nvPr/>
        </p:nvSpPr>
        <p:spPr>
          <a:xfrm>
            <a:off x="777240" y="1508760"/>
            <a:ext cx="2468880" cy="3657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O::page-9::s9_st0"/>
          <p:cNvSpPr txBox="1"/>
          <p:nvPr/>
        </p:nvSpPr>
        <p:spPr>
          <a:xfrm>
            <a:off x="86868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365D"/>
                </a:solidFill>
                <a:latin typeface="Noto Sans SC" panose="020B0200000000000000" charset="-122"/>
              </a:rPr>
              <a:t>1. 上传票据 → OCR识别</a:t>
            </a:r>
            <a:endParaRPr sz="10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9::s9_sb1"/>
          <p:cNvSpPr/>
          <p:nvPr/>
        </p:nvSpPr>
        <p:spPr>
          <a:xfrm>
            <a:off x="3429000" y="1508760"/>
            <a:ext cx="2468880" cy="3657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9::s9_st1"/>
          <p:cNvSpPr txBox="1"/>
          <p:nvPr/>
        </p:nvSpPr>
        <p:spPr>
          <a:xfrm>
            <a:off x="3520440" y="1508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365D"/>
                </a:solidFill>
                <a:latin typeface="Noto Sans SC" panose="020B0200000000000000" charset="-122"/>
              </a:rPr>
              <a:t>2. 确认参保类型与账户</a:t>
            </a:r>
            <a:endParaRPr sz="10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9::s9_sb2"/>
          <p:cNvSpPr/>
          <p:nvPr/>
        </p:nvSpPr>
        <p:spPr>
          <a:xfrm>
            <a:off x="777240" y="2011680"/>
            <a:ext cx="2468880" cy="3657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::page-9::s9_st2"/>
          <p:cNvSpPr txBox="1"/>
          <p:nvPr/>
        </p:nvSpPr>
        <p:spPr>
          <a:xfrm>
            <a:off x="86868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365D"/>
                </a:solidFill>
                <a:latin typeface="Noto Sans SC" panose="020B0200000000000000" charset="-122"/>
              </a:rPr>
              <a:t>3. 扣除起付线</a:t>
            </a:r>
            <a:endParaRPr sz="10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9::s9_sb3"/>
          <p:cNvSpPr/>
          <p:nvPr/>
        </p:nvSpPr>
        <p:spPr>
          <a:xfrm>
            <a:off x="3429000" y="2011680"/>
            <a:ext cx="2468880" cy="3657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::page-9::s9_st3"/>
          <p:cNvSpPr txBox="1"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365D"/>
                </a:solidFill>
                <a:latin typeface="Noto Sans SC" panose="020B0200000000000000" charset="-122"/>
              </a:rPr>
              <a:t>4. 按比例计算报销</a:t>
            </a:r>
            <a:endParaRPr sz="10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9::s9_sb4"/>
          <p:cNvSpPr/>
          <p:nvPr/>
        </p:nvSpPr>
        <p:spPr>
          <a:xfrm>
            <a:off x="777240" y="2514600"/>
            <a:ext cx="2468880" cy="3657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UTO::page-9::s9_st4"/>
          <p:cNvSpPr txBox="1"/>
          <p:nvPr/>
        </p:nvSpPr>
        <p:spPr>
          <a:xfrm>
            <a:off x="868680" y="2514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365D"/>
                </a:solidFill>
                <a:latin typeface="Noto Sans SC" panose="020B0200000000000000" charset="-122"/>
              </a:rPr>
              <a:t>5. 叠加大病保险</a:t>
            </a:r>
            <a:endParaRPr sz="10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9::s9_sb5"/>
          <p:cNvSpPr/>
          <p:nvPr/>
        </p:nvSpPr>
        <p:spPr>
          <a:xfrm>
            <a:off x="3429000" y="2514600"/>
            <a:ext cx="2468880" cy="3657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::page-9::s9_st5"/>
          <p:cNvSpPr txBox="1"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365D"/>
                </a:solidFill>
                <a:latin typeface="Noto Sans SC" panose="020B0200000000000000" charset="-122"/>
              </a:rPr>
              <a:t>6. 匹配门诊慢病待遇</a:t>
            </a:r>
            <a:endParaRPr sz="10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9::s9_sb6"/>
          <p:cNvSpPr/>
          <p:nvPr/>
        </p:nvSpPr>
        <p:spPr>
          <a:xfrm>
            <a:off x="777240" y="3017520"/>
            <a:ext cx="2468880" cy="3657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UTO::page-9::s9_st6"/>
          <p:cNvSpPr txBox="1"/>
          <p:nvPr/>
        </p:nvSpPr>
        <p:spPr>
          <a:xfrm>
            <a:off x="868680" y="3017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365D"/>
                </a:solidFill>
                <a:latin typeface="Noto Sans SC" panose="020B0200000000000000" charset="-122"/>
              </a:rPr>
              <a:t>7. 输出最终报销金额</a:t>
            </a:r>
            <a:endParaRPr sz="10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9::s9_rm"/>
          <p:cNvSpPr/>
          <p:nvPr/>
        </p:nvSpPr>
        <p:spPr>
          <a:xfrm>
            <a:off x="777240" y="3474720"/>
            <a:ext cx="5212080" cy="41148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9::s9_rm_t"/>
          <p:cNvSpPr txBox="1"/>
          <p:nvPr/>
        </p:nvSpPr>
        <p:spPr>
          <a:xfrm>
            <a:off x="777240" y="347472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D6B20"/>
                </a:solidFill>
                <a:latin typeface="Noto Sans SC" panose="020B0200000000000000" charset="-122"/>
              </a:rPr>
              <a:t>⚠ 您可能符合门诊慢病待遇，可多报销 ¥2,016/年</a:t>
            </a:r>
            <a:endParaRPr sz="11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9::s9_pt"/>
          <p:cNvSpPr txBox="1"/>
          <p:nvPr/>
        </p:nvSpPr>
        <p:spPr>
          <a:xfrm>
            <a:off x="777240" y="3977639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365D"/>
                </a:solidFill>
                <a:latin typeface="Noto Sans SC" panose="020B0200000000000000" charset="-122"/>
              </a:rPr>
              <a:t>政策匹配（按省钱金额排序）</a:t>
            </a:r>
            <a:endParaRPr sz="11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23" name="AUTO::page-9::s9_pb0"/>
          <p:cNvSpPr/>
          <p:nvPr/>
        </p:nvSpPr>
        <p:spPr>
          <a:xfrm>
            <a:off x="777240" y="4251960"/>
            <a:ext cx="1645920" cy="82296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UTO::page-9::s9_pt0"/>
          <p:cNvSpPr txBox="1"/>
          <p:nvPr/>
        </p:nvSpPr>
        <p:spPr>
          <a:xfrm>
            <a:off x="850392" y="429768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8A169"/>
                </a:solidFill>
                <a:latin typeface="Noto Sans SC" panose="020B0200000000000000" charset="-122"/>
              </a:rPr>
              <a:t>门诊慢病待遇 ¥2,016/年</a:t>
            </a:r>
            <a:endParaRPr sz="900" b="0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25" name="AUTO::page-9::s9_pb1"/>
          <p:cNvSpPr/>
          <p:nvPr/>
        </p:nvSpPr>
        <p:spPr>
          <a:xfrm>
            <a:off x="2560320" y="425196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UTO::page-9::s9_pt1"/>
          <p:cNvSpPr txBox="1"/>
          <p:nvPr/>
        </p:nvSpPr>
        <p:spPr>
          <a:xfrm>
            <a:off x="2633472" y="429768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大病保险二次报销 ¥800/年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7" name="AUTO::page-9::s9_pb2"/>
          <p:cNvSpPr/>
          <p:nvPr/>
        </p:nvSpPr>
        <p:spPr>
          <a:xfrm>
            <a:off x="4343400" y="425196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UTO::page-9::s9_pt2"/>
          <p:cNvSpPr txBox="1"/>
          <p:nvPr/>
        </p:nvSpPr>
        <p:spPr>
          <a:xfrm>
            <a:off x="4416552" y="4297680"/>
            <a:ext cx="14996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家庭共测账户 ¥500/年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9" name="AUTO::page-9::s9_r1"/>
          <p:cNvSpPr/>
          <p:nvPr/>
        </p:nvSpPr>
        <p:spPr>
          <a:xfrm>
            <a:off x="6309360" y="1051560"/>
            <a:ext cx="523951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UTO::page-9::s9_r1t"/>
          <p:cNvSpPr txBox="1"/>
          <p:nvPr/>
        </p:nvSpPr>
        <p:spPr>
          <a:xfrm>
            <a:off x="6446520" y="1143000"/>
            <a:ext cx="4965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多智能体协作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31" name="AUTO::page-9::s9_r1d"/>
          <p:cNvSpPr txBox="1"/>
          <p:nvPr/>
        </p:nvSpPr>
        <p:spPr>
          <a:xfrm>
            <a:off x="6446520" y="1417320"/>
            <a:ext cx="4965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复合意图并行调度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"脑电异常 + 政策省钱"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→ 同时触发脑电卫士 + 政策参谋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一次回答两个问题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32" name="AUTO::page-9::s9_r2"/>
          <p:cNvSpPr/>
          <p:nvPr/>
        </p:nvSpPr>
        <p:spPr>
          <a:xfrm>
            <a:off x="6309360" y="2606040"/>
            <a:ext cx="523951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UTO::page-9::s9_r2t"/>
          <p:cNvSpPr txBox="1"/>
          <p:nvPr/>
        </p:nvSpPr>
        <p:spPr>
          <a:xfrm>
            <a:off x="6446520" y="2697480"/>
            <a:ext cx="4965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动态用户管理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34" name="AUTO::page-9::s9_r2d"/>
          <p:cNvSpPr txBox="1"/>
          <p:nvPr/>
        </p:nvSpPr>
        <p:spPr>
          <a:xfrm>
            <a:off x="6446520" y="2971800"/>
            <a:ext cx="4965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现场新增用户 → 全站即时联动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对话/健康画像/数字人体档案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&lt;10秒完成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会话持久化，重启可回放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35" name="AUTO::page-9::s9_bd"/>
          <p:cNvSpPr/>
          <p:nvPr/>
        </p:nvSpPr>
        <p:spPr>
          <a:xfrm>
            <a:off x="640080" y="5212080"/>
            <a:ext cx="10908792" cy="4114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UTO::page-9::s9_bd_t"/>
          <p:cNvSpPr txBox="1"/>
          <p:nvPr/>
        </p:nvSpPr>
        <p:spPr>
          <a:xfrm>
            <a:off x="640080" y="5212080"/>
            <a:ext cx="109087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SC" panose="020B0200000000000000" charset="-122"/>
              </a:rPr>
              <a:t>已调度2个智能体协同 · 动态新增用户全站即时联动(&lt;10秒) · 会话持久化重启可回放</a:t>
            </a:r>
            <a:endParaRPr sz="10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10::s10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10::s10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四大技术创新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10::s10_c0"/>
          <p:cNvSpPr/>
          <p:nvPr/>
        </p:nvSpPr>
        <p:spPr>
          <a:xfrm>
            <a:off x="640080" y="1051560"/>
            <a:ext cx="5317236" cy="201168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10::s10_st0"/>
          <p:cNvSpPr txBox="1"/>
          <p:nvPr/>
        </p:nvSpPr>
        <p:spPr>
          <a:xfrm>
            <a:off x="5637276" y="10972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D6B20"/>
                </a:solidFill>
                <a:latin typeface="Noto Sans SC" panose="020B0200000000000000" charset="-122"/>
              </a:rPr>
              <a:t>★</a:t>
            </a:r>
            <a:endParaRPr sz="14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6" name="AUTO::page-10::s10_t0"/>
          <p:cNvSpPr txBox="1"/>
          <p:nvPr/>
        </p:nvSpPr>
        <p:spPr>
          <a:xfrm>
            <a:off x="777240" y="1188719"/>
            <a:ext cx="50429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365D"/>
                </a:solidFill>
                <a:latin typeface="Noto Sans SC" panose="020B0200000000000000" charset="-122"/>
              </a:rPr>
              <a:t>多模态信号识别</a:t>
            </a:r>
            <a:endParaRPr sz="14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10::s10_d0"/>
          <p:cNvSpPr txBox="1"/>
          <p:nvPr/>
        </p:nvSpPr>
        <p:spPr>
          <a:xfrm>
            <a:off x="777240" y="1554480"/>
            <a:ext cx="50429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脑电频域分析 + 影像病灶检测 + 行为模式分析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统一编排智能体调度，复合意图并行执行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10::s10_c1"/>
          <p:cNvSpPr/>
          <p:nvPr/>
        </p:nvSpPr>
        <p:spPr>
          <a:xfrm>
            <a:off x="6231636" y="1051560"/>
            <a:ext cx="5317236" cy="2011680"/>
          </a:xfrm>
          <a:prstGeom prst="rect">
            <a:avLst/>
          </a:prstGeom>
          <a:solidFill>
            <a:srgbClr val="FEF5E7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10::s10_st1"/>
          <p:cNvSpPr txBox="1"/>
          <p:nvPr/>
        </p:nvSpPr>
        <p:spPr>
          <a:xfrm>
            <a:off x="11228832" y="10972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D6B20"/>
                </a:solidFill>
                <a:latin typeface="Noto Sans SC" panose="020B0200000000000000" charset="-122"/>
              </a:rPr>
              <a:t>★</a:t>
            </a:r>
            <a:endParaRPr sz="14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10::s10_t1"/>
          <p:cNvSpPr txBox="1"/>
          <p:nvPr/>
        </p:nvSpPr>
        <p:spPr>
          <a:xfrm>
            <a:off x="6368796" y="1188719"/>
            <a:ext cx="50429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D6B20"/>
                </a:solidFill>
                <a:latin typeface="Noto Sans SC" panose="020B0200000000000000" charset="-122"/>
              </a:rPr>
              <a:t>医师在环 (Human-in-the-Loop)</a:t>
            </a:r>
            <a:endParaRPr sz="14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1" name="AUTO::page-10::s10_d1"/>
          <p:cNvSpPr txBox="1"/>
          <p:nvPr/>
        </p:nvSpPr>
        <p:spPr>
          <a:xfrm>
            <a:off x="6368796" y="1554480"/>
            <a:ext cx="50429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AI影像预标注必须经医师逐框复核才能出报告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医疗AI安全底线：建议权给AI，裁决权给人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10::s10_c2"/>
          <p:cNvSpPr/>
          <p:nvPr/>
        </p:nvSpPr>
        <p:spPr>
          <a:xfrm>
            <a:off x="640080" y="3200400"/>
            <a:ext cx="5317236" cy="201168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::page-10::s10_t2"/>
          <p:cNvSpPr txBox="1"/>
          <p:nvPr/>
        </p:nvSpPr>
        <p:spPr>
          <a:xfrm>
            <a:off x="777240" y="3337560"/>
            <a:ext cx="50429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8A169"/>
                </a:solidFill>
                <a:latin typeface="Noto Sans SC" panose="020B0200000000000000" charset="-122"/>
              </a:rPr>
              <a:t>可信数据空间对齐</a:t>
            </a:r>
            <a:endParaRPr sz="14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10::s10_d2"/>
          <p:cNvSpPr txBox="1"/>
          <p:nvPr/>
        </p:nvSpPr>
        <p:spPr>
          <a:xfrm>
            <a:off x="777240" y="3703320"/>
            <a:ext cx="50429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隐私计算可用不可见 + 区块链存证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对齐数据要素×医疗健康国家战略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10::s10_c3"/>
          <p:cNvSpPr/>
          <p:nvPr/>
        </p:nvSpPr>
        <p:spPr>
          <a:xfrm>
            <a:off x="6231636" y="3200400"/>
            <a:ext cx="5317236" cy="2011680"/>
          </a:xfrm>
          <a:prstGeom prst="rect">
            <a:avLst/>
          </a:prstGeom>
          <a:solidFill>
            <a:srgbClr val="EDF2F7"/>
          </a:solidFill>
          <a:ln w="1905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UTO::page-10::s10_t3"/>
          <p:cNvSpPr txBox="1"/>
          <p:nvPr/>
        </p:nvSpPr>
        <p:spPr>
          <a:xfrm>
            <a:off x="6368796" y="3337560"/>
            <a:ext cx="50429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C5282"/>
                </a:solidFill>
                <a:latin typeface="Noto Sans SC" panose="020B0200000000000000" charset="-122"/>
              </a:rPr>
              <a:t>全链路可解释性</a:t>
            </a:r>
            <a:endParaRPr sz="1400" b="1" i="0">
              <a:solidFill>
                <a:srgbClr val="2C5282"/>
              </a:solidFill>
              <a:latin typeface="Noto Sans SC" panose="020B0200000000000000" charset="-122"/>
            </a:endParaRPr>
          </a:p>
        </p:txBody>
      </p:sp>
      <p:sp>
        <p:nvSpPr>
          <p:cNvPr id="17" name="AUTO::page-10::s10_d3"/>
          <p:cNvSpPr txBox="1"/>
          <p:nvPr/>
        </p:nvSpPr>
        <p:spPr>
          <a:xfrm>
            <a:off x="6368796" y="3703320"/>
            <a:ext cx="50429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脑电有频域证据，影像有bbox坐标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政策有原文引用，报销有步骤推导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10::s10_sl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UTO::page-10::s10_sl_t"/>
          <p:cNvSpPr txBox="1"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SC" panose="020B0200000000000000" charset="-122"/>
              </a:rPr>
              <a:t>不做黑箱AI，做医生与患者能信任的AI</a:t>
            </a:r>
            <a:endParaRPr sz="14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11::s11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11::s11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医疗安全 · 隐私保护 · 使用边界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11::s11_c0"/>
          <p:cNvSpPr/>
          <p:nvPr/>
        </p:nvSpPr>
        <p:spPr>
          <a:xfrm>
            <a:off x="640080" y="1051560"/>
            <a:ext cx="3453384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11::s11_h0"/>
          <p:cNvSpPr/>
          <p:nvPr/>
        </p:nvSpPr>
        <p:spPr>
          <a:xfrm>
            <a:off x="640080" y="1051560"/>
            <a:ext cx="3453384" cy="457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11::s11_ht0"/>
          <p:cNvSpPr txBox="1"/>
          <p:nvPr/>
        </p:nvSpPr>
        <p:spPr>
          <a:xfrm>
            <a:off x="640080" y="1051560"/>
            <a:ext cx="3453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SC" panose="020B0200000000000000" charset="-122"/>
              </a:rPr>
              <a:t>医疗安全</a:t>
            </a:r>
            <a:endParaRPr sz="14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11::s11_ib0_0"/>
          <p:cNvSpPr/>
          <p:nvPr/>
        </p:nvSpPr>
        <p:spPr>
          <a:xfrm>
            <a:off x="749808" y="1691640"/>
            <a:ext cx="3233928" cy="6858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UTO::page-11::s11_it0_0"/>
          <p:cNvSpPr txBox="1"/>
          <p:nvPr/>
        </p:nvSpPr>
        <p:spPr>
          <a:xfrm>
            <a:off x="841247" y="173736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影像报告必须医师复核签字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9" name="AUTO::page-11::s11_ib0_1"/>
          <p:cNvSpPr/>
          <p:nvPr/>
        </p:nvSpPr>
        <p:spPr>
          <a:xfrm>
            <a:off x="749808" y="2514600"/>
            <a:ext cx="3233928" cy="6858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UTO::page-11::s11_it0_1"/>
          <p:cNvSpPr txBox="1"/>
          <p:nvPr/>
        </p:nvSpPr>
        <p:spPr>
          <a:xfrm>
            <a:off x="841247" y="256032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AI预标注仅作辅助参考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1" name="AUTO::page-11::s11_ib0_2"/>
          <p:cNvSpPr/>
          <p:nvPr/>
        </p:nvSpPr>
        <p:spPr>
          <a:xfrm>
            <a:off x="749808" y="3337560"/>
            <a:ext cx="3233928" cy="6858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UTO::page-11::s11_it0_2"/>
          <p:cNvSpPr txBox="1"/>
          <p:nvPr/>
        </p:nvSpPr>
        <p:spPr>
          <a:xfrm>
            <a:off x="841247" y="338328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脑电/健康预警为提示非诊断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3" name="AUTO::page-11::s11_c1"/>
          <p:cNvSpPr/>
          <p:nvPr/>
        </p:nvSpPr>
        <p:spPr>
          <a:xfrm>
            <a:off x="4367784" y="1051560"/>
            <a:ext cx="3453384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UTO::page-11::s11_h1"/>
          <p:cNvSpPr/>
          <p:nvPr/>
        </p:nvSpPr>
        <p:spPr>
          <a:xfrm>
            <a:off x="4367784" y="1051560"/>
            <a:ext cx="3453384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UTO::page-11::s11_ht1"/>
          <p:cNvSpPr txBox="1"/>
          <p:nvPr/>
        </p:nvSpPr>
        <p:spPr>
          <a:xfrm>
            <a:off x="4367784" y="1051560"/>
            <a:ext cx="3453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SC" panose="020B0200000000000000" charset="-122"/>
              </a:rPr>
              <a:t>隐私保护</a:t>
            </a:r>
            <a:endParaRPr sz="14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11::s11_ib1_0"/>
          <p:cNvSpPr/>
          <p:nvPr/>
        </p:nvSpPr>
        <p:spPr>
          <a:xfrm>
            <a:off x="4477512" y="1691640"/>
            <a:ext cx="3233928" cy="6858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::page-11::s11_it1_0"/>
          <p:cNvSpPr txBox="1"/>
          <p:nvPr/>
        </p:nvSpPr>
        <p:spPr>
          <a:xfrm>
            <a:off x="4568952" y="173736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数据授权管理：用户自主共享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11::s11_ib1_1"/>
          <p:cNvSpPr/>
          <p:nvPr/>
        </p:nvSpPr>
        <p:spPr>
          <a:xfrm>
            <a:off x="4477512" y="2514600"/>
            <a:ext cx="3233928" cy="6858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UTO::page-11::s11_it1_1"/>
          <p:cNvSpPr txBox="1"/>
          <p:nvPr/>
        </p:nvSpPr>
        <p:spPr>
          <a:xfrm>
            <a:off x="4568952" y="256032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隐私计算：可用不可见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11::s11_ib1_2"/>
          <p:cNvSpPr/>
          <p:nvPr/>
        </p:nvSpPr>
        <p:spPr>
          <a:xfrm>
            <a:off x="4477512" y="3337560"/>
            <a:ext cx="3233928" cy="6858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11::s11_it1_2"/>
          <p:cNvSpPr txBox="1"/>
          <p:nvPr/>
        </p:nvSpPr>
        <p:spPr>
          <a:xfrm>
            <a:off x="4568952" y="338328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区块链存证：全链路可追溯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11::s11_c2"/>
          <p:cNvSpPr/>
          <p:nvPr/>
        </p:nvSpPr>
        <p:spPr>
          <a:xfrm>
            <a:off x="8095488" y="1051560"/>
            <a:ext cx="3453384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UTO::page-11::s11_h2"/>
          <p:cNvSpPr/>
          <p:nvPr/>
        </p:nvSpPr>
        <p:spPr>
          <a:xfrm>
            <a:off x="8095488" y="1051560"/>
            <a:ext cx="3453384" cy="4572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UTO::page-11::s11_ht2"/>
          <p:cNvSpPr txBox="1"/>
          <p:nvPr/>
        </p:nvSpPr>
        <p:spPr>
          <a:xfrm>
            <a:off x="8095488" y="1051560"/>
            <a:ext cx="3453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SC" panose="020B0200000000000000" charset="-122"/>
              </a:rPr>
              <a:t>使用边界</a:t>
            </a:r>
            <a:endParaRPr sz="14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25" name="AUTO::page-11::s11_ib2_0"/>
          <p:cNvSpPr/>
          <p:nvPr/>
        </p:nvSpPr>
        <p:spPr>
          <a:xfrm>
            <a:off x="8205215" y="1691640"/>
            <a:ext cx="3233928" cy="6858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UTO::page-11::s11_it2_0"/>
          <p:cNvSpPr txBox="1"/>
          <p:nvPr/>
        </p:nvSpPr>
        <p:spPr>
          <a:xfrm>
            <a:off x="8296656" y="173736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不支持处方、确诊等替代医疗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7" name="AUTO::page-11::s11_ib2_1"/>
          <p:cNvSpPr/>
          <p:nvPr/>
        </p:nvSpPr>
        <p:spPr>
          <a:xfrm>
            <a:off x="8205215" y="2514600"/>
            <a:ext cx="3233928" cy="6858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UTO::page-11::s11_it2_1"/>
          <p:cNvSpPr txBox="1"/>
          <p:nvPr/>
        </p:nvSpPr>
        <p:spPr>
          <a:xfrm>
            <a:off x="8296656" y="256032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危急信号引导线下就医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9" name="AUTO::page-11::s11_ib2_2"/>
          <p:cNvSpPr/>
          <p:nvPr/>
        </p:nvSpPr>
        <p:spPr>
          <a:xfrm>
            <a:off x="8205215" y="3337560"/>
            <a:ext cx="3233928" cy="6858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UTO::page-11::s11_it2_2"/>
          <p:cNvSpPr txBox="1"/>
          <p:nvPr/>
        </p:nvSpPr>
        <p:spPr>
          <a:xfrm>
            <a:off x="8296656" y="3383280"/>
            <a:ext cx="305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• 产品内置边界声明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31" name="AUTO::page-11::s11_d"/>
          <p:cNvSpPr txBox="1"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18096"/>
                </a:solidFill>
                <a:latin typeface="Noto Sans SC" panose="020B0200000000000000" charset="-122"/>
              </a:rPr>
              <a:t>产品使用边界声明：MedSignal 提供的健康信息仅供参考，不构成医疗诊断或处方建议，危急情况请立即就医。</a:t>
            </a:r>
            <a:endParaRPr sz="900" b="0" i="0">
              <a:solidFill>
                <a:srgbClr val="718096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12::s12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12::s12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从“等生病”到“早发现”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12::s12_lc"/>
          <p:cNvSpPr/>
          <p:nvPr/>
        </p:nvSpPr>
        <p:spPr>
          <a:xfrm>
            <a:off x="640080" y="1051560"/>
            <a:ext cx="5029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12::s12_lt"/>
          <p:cNvSpPr txBox="1"/>
          <p:nvPr/>
        </p:nvSpPr>
        <p:spPr>
          <a:xfrm>
            <a:off x="777240" y="1143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范式转变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6" name="AUTO::page-12::s12_pb"/>
          <p:cNvSpPr/>
          <p:nvPr/>
        </p:nvSpPr>
        <p:spPr>
          <a:xfrm>
            <a:off x="777240" y="1508760"/>
            <a:ext cx="4754880" cy="1371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O::page-12::s12_pt"/>
          <p:cNvSpPr txBox="1"/>
          <p:nvPr/>
        </p:nvSpPr>
        <p:spPr>
          <a:xfrm>
            <a:off x="868680" y="15727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18096"/>
                </a:solidFill>
                <a:latin typeface="Noto Sans SC" panose="020B0200000000000000" charset="-122"/>
              </a:rPr>
              <a:t>传统模式：被动等生病</a:t>
            </a:r>
            <a:endParaRPr sz="1200" b="1" i="0">
              <a:solidFill>
                <a:srgbClr val="718096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12::s12_pd"/>
          <p:cNvSpPr txBox="1"/>
          <p:nvPr/>
        </p:nvSpPr>
        <p:spPr>
          <a:xfrm>
            <a:off x="868680" y="1874519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96"/>
                </a:solidFill>
                <a:latin typeface="Noto Sans SC" panose="020B0200000000000000" charset="-122"/>
              </a:rPr>
              <a:t>无症状不检查</a:t>
            </a:r>
            <a:endParaRPr sz="1000" b="0" i="0">
              <a:solidFill>
                <a:srgbClr val="718096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96"/>
                </a:solidFill>
                <a:latin typeface="Noto Sans SC" panose="020B0200000000000000" charset="-122"/>
              </a:rPr>
              <a:t>发现时已延误</a:t>
            </a:r>
            <a:endParaRPr sz="1000" b="0" i="0">
              <a:solidFill>
                <a:srgbClr val="718096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96"/>
                </a:solidFill>
                <a:latin typeface="Noto Sans SC" panose="020B0200000000000000" charset="-122"/>
              </a:rPr>
              <a:t>信息靠口口相传</a:t>
            </a:r>
            <a:endParaRPr sz="1000" b="0" i="0">
              <a:solidFill>
                <a:srgbClr val="718096"/>
              </a:solidFill>
              <a:latin typeface="Noto Sans SC" panose="020B0200000000000000" charset="-122"/>
            </a:endParaRPr>
          </a:p>
        </p:txBody>
      </p:sp>
      <p:sp>
        <p:nvSpPr>
          <p:cNvPr id="9" name="AUTO::page-12::s12_ar"/>
          <p:cNvSpPr/>
          <p:nvPr/>
        </p:nvSpPr>
        <p:spPr>
          <a:xfrm>
            <a:off x="2926080" y="2971800"/>
            <a:ext cx="18288" cy="274320"/>
          </a:xfrm>
          <a:prstGeom prst="rect">
            <a:avLst/>
          </a:prstGeom>
          <a:noFill/>
          <a:ln w="381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UTO::page-12::s12_ab"/>
          <p:cNvSpPr/>
          <p:nvPr/>
        </p:nvSpPr>
        <p:spPr>
          <a:xfrm>
            <a:off x="777240" y="3337560"/>
            <a:ext cx="4754880" cy="1371600"/>
          </a:xfrm>
          <a:prstGeom prst="rect">
            <a:avLst/>
          </a:prstGeom>
          <a:solidFill>
            <a:srgbClr val="E0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::page-12::s12_at"/>
          <p:cNvSpPr txBox="1"/>
          <p:nvPr/>
        </p:nvSpPr>
        <p:spPr>
          <a:xfrm>
            <a:off x="868680" y="34015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A169"/>
                </a:solidFill>
                <a:latin typeface="Noto Sans SC" panose="020B0200000000000000" charset="-122"/>
              </a:rPr>
              <a:t>MedSignal：主动抓信号</a:t>
            </a:r>
            <a:endParaRPr sz="12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12::s12_ad"/>
          <p:cNvSpPr txBox="1"/>
          <p:nvPr/>
        </p:nvSpPr>
        <p:spPr>
          <a:xfrm>
            <a:off x="868680" y="370332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脑电/影像/行为提前捕捉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早发现早干预降低成本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信号翻译成患者看得懂的话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3" name="AUTO::page-12::s12_kw0"/>
          <p:cNvSpPr/>
          <p:nvPr/>
        </p:nvSpPr>
        <p:spPr>
          <a:xfrm>
            <a:off x="5943600" y="1051560"/>
            <a:ext cx="5605272" cy="118872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UTO::page-12::s12_kt0"/>
          <p:cNvSpPr txBox="1"/>
          <p:nvPr/>
        </p:nvSpPr>
        <p:spPr>
          <a:xfrm>
            <a:off x="6126480" y="1188719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Noto Sans SC" panose="020B0200000000000000" charset="-122"/>
              </a:rPr>
              <a:t>早发现</a:t>
            </a:r>
            <a:endParaRPr sz="2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12::s12_kd0"/>
          <p:cNvSpPr txBox="1"/>
          <p:nvPr/>
        </p:nvSpPr>
        <p:spPr>
          <a:xfrm>
            <a:off x="6126480" y="1691639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降低疾病发现成本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12::s12_kw1"/>
          <p:cNvSpPr/>
          <p:nvPr/>
        </p:nvSpPr>
        <p:spPr>
          <a:xfrm>
            <a:off x="5943600" y="2423160"/>
            <a:ext cx="5605272" cy="118872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::page-12::s12_kt1"/>
          <p:cNvSpPr txBox="1"/>
          <p:nvPr/>
        </p:nvSpPr>
        <p:spPr>
          <a:xfrm>
            <a:off x="6126480" y="2560320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8A169"/>
                </a:solidFill>
                <a:latin typeface="Noto Sans SC" panose="020B0200000000000000" charset="-122"/>
              </a:rPr>
              <a:t>强基层</a:t>
            </a:r>
            <a:endParaRPr sz="22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12::s12_kd1"/>
          <p:cNvSpPr txBox="1"/>
          <p:nvPr/>
        </p:nvSpPr>
        <p:spPr>
          <a:xfrm>
            <a:off x="6126480" y="3063239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AI预标注缓解阅片压力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9" name="AUTO::page-12::s12_kw2"/>
          <p:cNvSpPr/>
          <p:nvPr/>
        </p:nvSpPr>
        <p:spPr>
          <a:xfrm>
            <a:off x="5943600" y="3794760"/>
            <a:ext cx="5605272" cy="1188720"/>
          </a:xfrm>
          <a:prstGeom prst="rect">
            <a:avLst/>
          </a:prstGeom>
          <a:solidFill>
            <a:srgbClr val="FEF5E7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UTO::page-12::s12_kt2"/>
          <p:cNvSpPr txBox="1"/>
          <p:nvPr/>
        </p:nvSpPr>
        <p:spPr>
          <a:xfrm>
            <a:off x="6126480" y="3931920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D6B20"/>
                </a:solidFill>
                <a:latin typeface="Noto Sans SC" panose="020B0200000000000000" charset="-122"/>
              </a:rPr>
              <a:t>惠民生</a:t>
            </a:r>
            <a:endParaRPr sz="22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21" name="AUTO::page-12::s12_kd2"/>
          <p:cNvSpPr txBox="1"/>
          <p:nvPr/>
        </p:nvSpPr>
        <p:spPr>
          <a:xfrm>
            <a:off x="6126480" y="4434840"/>
            <a:ext cx="5239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D3748"/>
                </a:solidFill>
                <a:latin typeface="Noto Sans SC" panose="020B0200000000000000" charset="-122"/>
              </a:rPr>
              <a:t>专业信息翻译成人话</a:t>
            </a:r>
            <a:endParaRPr sz="11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12::s12_tg"/>
          <p:cNvSpPr txBox="1"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5282"/>
                </a:solidFill>
                <a:latin typeface="Noto Sans SC" panose="020B0200000000000000" charset="-122"/>
              </a:rPr>
              <a:t>数据要素  ·  健康中国  ·  分级诊疗  ·  数据要素×医疗健康</a:t>
            </a:r>
            <a:endParaRPr sz="1100" b="0" i="0">
              <a:solidFill>
                <a:srgbClr val="2C5282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13::s13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13::s13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三层商业模式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13::s13_t0"/>
          <p:cNvSpPr/>
          <p:nvPr/>
        </p:nvSpPr>
        <p:spPr>
          <a:xfrm>
            <a:off x="2011680" y="1097280"/>
            <a:ext cx="3200400" cy="1097280"/>
          </a:xfrm>
          <a:prstGeom prst="rect">
            <a:avLst/>
          </a:prstGeom>
          <a:solidFill>
            <a:srgbClr val="FEF5E7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13::s13_tt0"/>
          <p:cNvSpPr txBox="1"/>
          <p:nvPr/>
        </p:nvSpPr>
        <p:spPr>
          <a:xfrm>
            <a:off x="2148840" y="1188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D6B20"/>
                </a:solidFill>
                <a:latin typeface="Noto Sans SC" panose="020B0200000000000000" charset="-122"/>
              </a:rPr>
              <a:t>To C（个人/家庭）</a:t>
            </a:r>
            <a:endParaRPr sz="13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6" name="AUTO::page-13::s13_td0"/>
          <p:cNvSpPr txBox="1"/>
          <p:nvPr/>
        </p:nvSpPr>
        <p:spPr>
          <a:xfrm>
            <a:off x="2148840" y="148132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基础识别免费，增值服务付费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会员订阅 / 单次服务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13::s13_t1"/>
          <p:cNvSpPr/>
          <p:nvPr/>
        </p:nvSpPr>
        <p:spPr>
          <a:xfrm>
            <a:off x="1325880" y="2331720"/>
            <a:ext cx="4572000" cy="109728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UTO::page-13::s13_tt1"/>
          <p:cNvSpPr txBox="1"/>
          <p:nvPr/>
        </p:nvSpPr>
        <p:spPr>
          <a:xfrm>
            <a:off x="1463039" y="24231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A169"/>
                </a:solidFill>
                <a:latin typeface="Noto Sans SC" panose="020B0200000000000000" charset="-122"/>
              </a:rPr>
              <a:t>To B（体检/商保/药企）</a:t>
            </a:r>
            <a:endParaRPr sz="13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9" name="AUTO::page-13::s13_td1"/>
          <p:cNvSpPr txBox="1"/>
          <p:nvPr/>
        </p:nvSpPr>
        <p:spPr>
          <a:xfrm>
            <a:off x="1463039" y="271576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多模态信号能力输出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真实世界数据分析 · 数据服务费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13::s13_t2"/>
          <p:cNvSpPr/>
          <p:nvPr/>
        </p:nvSpPr>
        <p:spPr>
          <a:xfrm>
            <a:off x="640080" y="3566160"/>
            <a:ext cx="5943600" cy="109728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::page-13::s13_tt2"/>
          <p:cNvSpPr txBox="1"/>
          <p:nvPr/>
        </p:nvSpPr>
        <p:spPr>
          <a:xfrm>
            <a:off x="777240" y="365760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To G（医院/卫健/医保）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13::s13_td2"/>
          <p:cNvSpPr txBox="1"/>
          <p:nvPr/>
        </p:nvSpPr>
        <p:spPr>
          <a:xfrm>
            <a:off x="777240" y="3950208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影像AI辅助阅片 · 智能客服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D3748"/>
                </a:solidFill>
                <a:latin typeface="Noto Sans SC" panose="020B0200000000000000" charset="-122"/>
              </a:rPr>
              <a:t>按调用量 / 年服务费</a:t>
            </a:r>
            <a:endParaRPr sz="10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3" name="AUTO::page-13::s13_rc"/>
          <p:cNvSpPr/>
          <p:nvPr/>
        </p:nvSpPr>
        <p:spPr>
          <a:xfrm>
            <a:off x="7040880" y="1097280"/>
            <a:ext cx="4507992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UTO::page-13::s13_rt"/>
          <p:cNvSpPr txBox="1"/>
          <p:nvPr/>
        </p:nvSpPr>
        <p:spPr>
          <a:xfrm>
            <a:off x="7178040" y="1188720"/>
            <a:ext cx="4233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收入占比预估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graphicFrame>
        <p:nvGraphicFramePr>
          <p:cNvPr id="15" name="AUTO::page-13::s13_ch"/>
          <p:cNvGraphicFramePr>
            <a:graphicFrameLocks noGrp="1"/>
          </p:cNvGraphicFramePr>
          <p:nvPr/>
        </p:nvGraphicFramePr>
        <p:xfrm>
          <a:off x="7178040" y="1554480"/>
          <a:ext cx="4233672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AUTO::page-13::s13_nt"/>
          <p:cNvSpPr txBox="1"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365D"/>
                </a:solidFill>
                <a:latin typeface="Noto Sans SC" panose="020B0200000000000000" charset="-122"/>
              </a:rPr>
              <a:t>信号识别是能力底座，数据服务是增长引擎</a:t>
            </a:r>
            <a:endParaRPr sz="12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14::s14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14::s14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从黑客松到真实临床场景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14::s14_ln"/>
          <p:cNvSpPr/>
          <p:nvPr/>
        </p:nvSpPr>
        <p:spPr>
          <a:xfrm>
            <a:off x="1097280" y="2286000"/>
            <a:ext cx="9994392" cy="18288"/>
          </a:xfrm>
          <a:prstGeom prst="rect">
            <a:avLst/>
          </a:prstGeom>
          <a:noFill/>
          <a:ln w="38100">
            <a:solidFill>
              <a:srgbClr val="C9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14::s14_nd0"/>
          <p:cNvSpPr/>
          <p:nvPr/>
        </p:nvSpPr>
        <p:spPr>
          <a:xfrm>
            <a:off x="2534412" y="2148840"/>
            <a:ext cx="274320" cy="2743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14::s14_c0"/>
          <p:cNvSpPr/>
          <p:nvPr/>
        </p:nvSpPr>
        <p:spPr>
          <a:xfrm>
            <a:off x="1097280" y="1097280"/>
            <a:ext cx="3148584" cy="1005840"/>
          </a:xfrm>
          <a:prstGeom prst="rect">
            <a:avLst/>
          </a:prstGeom>
          <a:solidFill>
            <a:srgbClr val="E6F0FA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O::page-14::s14_p0"/>
          <p:cNvSpPr txBox="1"/>
          <p:nvPr/>
        </p:nvSpPr>
        <p:spPr>
          <a:xfrm>
            <a:off x="1188720" y="1143000"/>
            <a:ext cx="2965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365D"/>
                </a:solidFill>
                <a:latin typeface="Noto Sans SC" panose="020B0200000000000000" charset="-122"/>
              </a:rPr>
              <a:t>Phase 1 · 1-3个月</a:t>
            </a:r>
            <a:endParaRPr sz="11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14::s14_t0"/>
          <p:cNvSpPr txBox="1"/>
          <p:nvPr/>
        </p:nvSpPr>
        <p:spPr>
          <a:xfrm>
            <a:off x="1188720" y="1371600"/>
            <a:ext cx="2965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Noto Sans SC" panose="020B0200000000000000" charset="-122"/>
              </a:rPr>
              <a:t>合作试点</a:t>
            </a:r>
            <a:endParaRPr sz="1100" b="1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9" name="AUTO::page-14::s14_d0"/>
          <p:cNvSpPr txBox="1"/>
          <p:nvPr/>
        </p:nvSpPr>
        <p:spPr>
          <a:xfrm>
            <a:off x="1188720" y="2468880"/>
            <a:ext cx="29657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与基层医疗/体检机构联合试点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接入真实脱敏数据验证算法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14::s14_nd1"/>
          <p:cNvSpPr/>
          <p:nvPr/>
        </p:nvSpPr>
        <p:spPr>
          <a:xfrm>
            <a:off x="5957316" y="2148840"/>
            <a:ext cx="274320" cy="2743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::page-14::s14_c1"/>
          <p:cNvSpPr/>
          <p:nvPr/>
        </p:nvSpPr>
        <p:spPr>
          <a:xfrm>
            <a:off x="4520184" y="2560320"/>
            <a:ext cx="3148584" cy="1005840"/>
          </a:xfrm>
          <a:prstGeom prst="rect">
            <a:avLst/>
          </a:prstGeom>
          <a:solidFill>
            <a:srgbClr val="E0F4E4"/>
          </a:solidFill>
          <a:ln w="1905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UTO::page-14::s14_p1"/>
          <p:cNvSpPr txBox="1"/>
          <p:nvPr/>
        </p:nvSpPr>
        <p:spPr>
          <a:xfrm>
            <a:off x="4611624" y="2606040"/>
            <a:ext cx="2965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A169"/>
                </a:solidFill>
                <a:latin typeface="Noto Sans SC" panose="020B0200000000000000" charset="-122"/>
              </a:rPr>
              <a:t>Phase 2 · 3-6个月</a:t>
            </a:r>
            <a:endParaRPr sz="1100" b="1" i="0">
              <a:solidFill>
                <a:srgbClr val="38A169"/>
              </a:solidFill>
              <a:latin typeface="Noto Sans SC" panose="020B0200000000000000" charset="-122"/>
            </a:endParaRPr>
          </a:p>
        </p:txBody>
      </p:sp>
      <p:sp>
        <p:nvSpPr>
          <p:cNvPr id="13" name="AUTO::page-14::s14_t1"/>
          <p:cNvSpPr txBox="1"/>
          <p:nvPr/>
        </p:nvSpPr>
        <p:spPr>
          <a:xfrm>
            <a:off x="4611624" y="2834640"/>
            <a:ext cx="2965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Noto Sans SC" panose="020B0200000000000000" charset="-122"/>
              </a:rPr>
              <a:t>多中心扩展</a:t>
            </a:r>
            <a:endParaRPr sz="1100" b="1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14::s14_d1"/>
          <p:cNvSpPr txBox="1"/>
          <p:nvPr/>
        </p:nvSpPr>
        <p:spPr>
          <a:xfrm>
            <a:off x="4611624" y="3611880"/>
            <a:ext cx="29657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覆盖2-3家医疗机构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扩展影像类型与脑电设备兼容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5" name="AUTO::page-14::s14_nd2"/>
          <p:cNvSpPr/>
          <p:nvPr/>
        </p:nvSpPr>
        <p:spPr>
          <a:xfrm>
            <a:off x="9380219" y="2148840"/>
            <a:ext cx="274320" cy="27432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UTO::page-14::s14_c2"/>
          <p:cNvSpPr/>
          <p:nvPr/>
        </p:nvSpPr>
        <p:spPr>
          <a:xfrm>
            <a:off x="7943087" y="1097280"/>
            <a:ext cx="3148584" cy="1005840"/>
          </a:xfrm>
          <a:prstGeom prst="rect">
            <a:avLst/>
          </a:prstGeom>
          <a:solidFill>
            <a:srgbClr val="FEF5E7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::page-14::s14_p2"/>
          <p:cNvSpPr txBox="1"/>
          <p:nvPr/>
        </p:nvSpPr>
        <p:spPr>
          <a:xfrm>
            <a:off x="8034527" y="1143000"/>
            <a:ext cx="2965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D6B20"/>
                </a:solidFill>
                <a:latin typeface="Noto Sans SC" panose="020B0200000000000000" charset="-122"/>
              </a:rPr>
              <a:t>Phase 3 · 6-12个月</a:t>
            </a:r>
            <a:endParaRPr sz="1100" b="1" i="0">
              <a:solidFill>
                <a:srgbClr val="DD6B20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14::s14_t2"/>
          <p:cNvSpPr txBox="1"/>
          <p:nvPr/>
        </p:nvSpPr>
        <p:spPr>
          <a:xfrm>
            <a:off x="8034527" y="1371600"/>
            <a:ext cx="2965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3748"/>
                </a:solidFill>
                <a:latin typeface="Noto Sans SC" panose="020B0200000000000000" charset="-122"/>
              </a:rPr>
              <a:t>产品化</a:t>
            </a:r>
            <a:endParaRPr sz="1100" b="1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19" name="AUTO::page-14::s14_d2"/>
          <p:cNvSpPr txBox="1"/>
          <p:nvPr/>
        </p:nvSpPr>
        <p:spPr>
          <a:xfrm>
            <a:off x="8034527" y="2468880"/>
            <a:ext cx="29657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医疗器械软件(SaMD)注册规划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D3748"/>
                </a:solidFill>
                <a:latin typeface="Noto Sans SC" panose="020B0200000000000000" charset="-122"/>
              </a:rPr>
              <a:t>依托可信数据空间规模部署</a:t>
            </a:r>
            <a:endParaRPr sz="9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14::s14_hr"/>
          <p:cNvSpPr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14::s14_hr_t"/>
          <p:cNvSpPr txBox="1"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SC" panose="020B0200000000000000" charset="-122"/>
              </a:rPr>
              <a:t>← 我们在这里</a:t>
            </a:r>
            <a:endParaRPr sz="11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14::s14_dp"/>
          <p:cNvSpPr txBox="1"/>
          <p:nvPr/>
        </p:nvSpPr>
        <p:spPr>
          <a:xfrm>
            <a:off x="640080" y="502920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5282"/>
                </a:solidFill>
                <a:latin typeface="Noto Sans SC" panose="020B0200000000000000" charset="-122"/>
              </a:rPr>
              <a:t>关键依赖：真实数据 · 临床合作 · 合规路径</a:t>
            </a:r>
            <a:endParaRPr sz="1100" b="0" i="0">
              <a:solidFill>
                <a:srgbClr val="2C5282"/>
              </a:solidFill>
              <a:latin typeface="Noto Sans SC" panose="020B0200000000000000" charset="-122"/>
            </a:endParaRPr>
          </a:p>
        </p:txBody>
      </p:sp>
      <p:pic>
        <p:nvPicPr>
          <p:cNvPr id="23" name="AUTO::page-14::s14_img" descr="slide14_research.jpg"/>
          <p:cNvPicPr>
            <a:picLocks noChangeAspect="1"/>
          </p:cNvPicPr>
          <p:nvPr/>
        </p:nvPicPr>
        <p:blipFill>
          <a:blip r:embed="rId1"/>
          <a:srcRect t="11905" b="11905"/>
          <a:stretch>
            <a:fillRect/>
          </a:stretch>
        </p:blipFill>
        <p:spPr>
          <a:xfrm>
            <a:off x="8412480" y="4114800"/>
            <a:ext cx="3200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::page-15::s15_bg"/>
          <p:cNvSpPr/>
          <p:nvPr/>
        </p:nvSpPr>
        <p:spPr>
          <a:xfrm>
            <a:off x="0" y="0"/>
            <a:ext cx="12188952" cy="684885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TO::page-15::s15_title"/>
          <p:cNvSpPr txBox="1"/>
          <p:nvPr/>
        </p:nvSpPr>
        <p:spPr>
          <a:xfrm>
            <a:off x="640080" y="320040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365D"/>
                </a:solidFill>
                <a:latin typeface="Noto Sans SC" panose="020B0200000000000000" charset="-122"/>
              </a:rPr>
              <a:t>团队</a:t>
            </a:r>
            <a:endParaRPr sz="28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4" name="AUTO::page-15::s15_ct"/>
          <p:cNvSpPr/>
          <p:nvPr/>
        </p:nvSpPr>
        <p:spPr>
          <a:xfrm>
            <a:off x="2468880" y="1188720"/>
            <a:ext cx="7251192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UTO::page-15::s15_ct_t"/>
          <p:cNvSpPr txBox="1"/>
          <p:nvPr/>
        </p:nvSpPr>
        <p:spPr>
          <a:xfrm>
            <a:off x="2468880" y="1188720"/>
            <a:ext cx="725119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Noto Sans SC" panose="020B0200000000000000" charset="-122"/>
              </a:rPr>
              <a:t>多模态医疗信号识别团队</a:t>
            </a:r>
            <a:endParaRPr sz="18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  <p:sp>
        <p:nvSpPr>
          <p:cNvPr id="6" name="AUTO::page-15::s15_r"/>
          <p:cNvSpPr txBox="1"/>
          <p:nvPr/>
        </p:nvSpPr>
        <p:spPr>
          <a:xfrm>
            <a:off x="640080" y="214884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D3748"/>
                </a:solidFill>
                <a:latin typeface="Noto Sans SC" panose="020B0200000000000000" charset="-122"/>
              </a:rPr>
              <a:t>全栈开发 · 产品设计 · AI应用开发 · EEG信号处理 · 医学影像工作流 · Prompt工程</a:t>
            </a:r>
            <a:endParaRPr sz="1200" b="0" i="0">
              <a:solidFill>
                <a:srgbClr val="2D3748"/>
              </a:solidFill>
              <a:latin typeface="Noto Sans SC" panose="020B0200000000000000" charset="-122"/>
            </a:endParaRPr>
          </a:p>
        </p:txBody>
      </p:sp>
      <p:sp>
        <p:nvSpPr>
          <p:cNvPr id="7" name="AUTO::page-15::s15_tt"/>
          <p:cNvSpPr txBox="1"/>
          <p:nvPr/>
        </p:nvSpPr>
        <p:spPr>
          <a:xfrm>
            <a:off x="640080" y="256032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365D"/>
                </a:solidFill>
                <a:latin typeface="Noto Sans SC" panose="020B0200000000000000" charset="-122"/>
              </a:rPr>
              <a:t>技术栈</a:t>
            </a:r>
            <a:endParaRPr sz="1300" b="1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8" name="AUTO::page-15::s15_t0"/>
          <p:cNvSpPr/>
          <p:nvPr/>
        </p:nvSpPr>
        <p:spPr>
          <a:xfrm>
            <a:off x="1097280" y="29260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15::s15_tt0"/>
          <p:cNvSpPr txBox="1"/>
          <p:nvPr/>
        </p:nvSpPr>
        <p:spPr>
          <a:xfrm>
            <a:off x="1097280" y="29260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Python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0" name="AUTO::page-15::s15_t1"/>
          <p:cNvSpPr/>
          <p:nvPr/>
        </p:nvSpPr>
        <p:spPr>
          <a:xfrm>
            <a:off x="2468880" y="29260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O::page-15::s15_tt1"/>
          <p:cNvSpPr txBox="1"/>
          <p:nvPr/>
        </p:nvSpPr>
        <p:spPr>
          <a:xfrm>
            <a:off x="2468880" y="29260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FastAPI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2" name="AUTO::page-15::s15_t2"/>
          <p:cNvSpPr/>
          <p:nvPr/>
        </p:nvSpPr>
        <p:spPr>
          <a:xfrm>
            <a:off x="3840480" y="29260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UTO::page-15::s15_tt2"/>
          <p:cNvSpPr txBox="1"/>
          <p:nvPr/>
        </p:nvSpPr>
        <p:spPr>
          <a:xfrm>
            <a:off x="3840480" y="29260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Next.js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4" name="AUTO::page-15::s15_t3"/>
          <p:cNvSpPr/>
          <p:nvPr/>
        </p:nvSpPr>
        <p:spPr>
          <a:xfrm>
            <a:off x="5212080" y="29260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UTO::page-15::s15_tt3"/>
          <p:cNvSpPr txBox="1"/>
          <p:nvPr/>
        </p:nvSpPr>
        <p:spPr>
          <a:xfrm>
            <a:off x="5212080" y="29260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React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6" name="AUTO::page-15::s15_t4"/>
          <p:cNvSpPr/>
          <p:nvPr/>
        </p:nvSpPr>
        <p:spPr>
          <a:xfrm>
            <a:off x="1097280" y="33832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TO::page-15::s15_tt4"/>
          <p:cNvSpPr txBox="1"/>
          <p:nvPr/>
        </p:nvSpPr>
        <p:spPr>
          <a:xfrm>
            <a:off x="10972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Multi-Agent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18" name="AUTO::page-15::s15_t5"/>
          <p:cNvSpPr/>
          <p:nvPr/>
        </p:nvSpPr>
        <p:spPr>
          <a:xfrm>
            <a:off x="2468880" y="33832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UTO::page-15::s15_tt5"/>
          <p:cNvSpPr txBox="1"/>
          <p:nvPr/>
        </p:nvSpPr>
        <p:spPr>
          <a:xfrm>
            <a:off x="24688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EEG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20" name="AUTO::page-15::s15_t6"/>
          <p:cNvSpPr/>
          <p:nvPr/>
        </p:nvSpPr>
        <p:spPr>
          <a:xfrm>
            <a:off x="3840480" y="33832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UTO::page-15::s15_tt6"/>
          <p:cNvSpPr txBox="1"/>
          <p:nvPr/>
        </p:nvSpPr>
        <p:spPr>
          <a:xfrm>
            <a:off x="38404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Imaging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22" name="AUTO::page-15::s15_t7"/>
          <p:cNvSpPr/>
          <p:nvPr/>
        </p:nvSpPr>
        <p:spPr>
          <a:xfrm>
            <a:off x="5212080" y="3383280"/>
            <a:ext cx="1280160" cy="365760"/>
          </a:xfrm>
          <a:prstGeom prst="rect">
            <a:avLst/>
          </a:prstGeom>
          <a:solidFill>
            <a:srgbClr val="E6F0FA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UTO::page-15::s15_tt7"/>
          <p:cNvSpPr txBox="1"/>
          <p:nvPr/>
        </p:nvSpPr>
        <p:spPr>
          <a:xfrm>
            <a:off x="521208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365D"/>
                </a:solidFill>
                <a:latin typeface="Noto Sans SC" panose="020B0200000000000000" charset="-122"/>
              </a:rPr>
              <a:t>LLM</a:t>
            </a:r>
            <a:endParaRPr sz="1100" b="0" i="0">
              <a:solidFill>
                <a:srgbClr val="1A365D"/>
              </a:solidFill>
              <a:latin typeface="Noto Sans SC" panose="020B0200000000000000" charset="-122"/>
            </a:endParaRPr>
          </a:p>
        </p:txBody>
      </p:sp>
      <p:sp>
        <p:nvSpPr>
          <p:cNvPr id="24" name="AUTO::page-15::s15_bt"/>
          <p:cNvSpPr/>
          <p:nvPr/>
        </p:nvSpPr>
        <p:spPr>
          <a:xfrm>
            <a:off x="1554480" y="5303520"/>
            <a:ext cx="9079992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UTO::page-15::s15_bt_t"/>
          <p:cNvSpPr txBox="1"/>
          <p:nvPr/>
        </p:nvSpPr>
        <p:spPr>
          <a:xfrm>
            <a:off x="1554480" y="5303520"/>
            <a:ext cx="9079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SC" panose="020B0200000000000000" charset="-122"/>
              </a:rPr>
              <a:t>从0到1，把想法变成可运行的医疗产品</a:t>
            </a:r>
            <a:endParaRPr sz="1400" b="1" i="0">
              <a:solidFill>
                <a:srgbClr val="FFFFFF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1105" y="1748640"/>
            <a:ext cx="6988435" cy="164915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96000"/>
              </a:lnSpc>
            </a:pPr>
            <a:r>
              <a:rPr lang="en-US" sz="88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</a:t>
            </a:r>
            <a:endParaRPr lang="en-US" sz="88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56615" y="3336290"/>
            <a:ext cx="4121785" cy="71628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fontScale="80000"/>
          </a:bodyPr>
          <a:lstStyle/>
          <a:p>
            <a:pPr algn="l">
              <a:lnSpc>
                <a:spcPct val="90000"/>
              </a:lnSpc>
            </a:pPr>
            <a:r>
              <a:rPr lang="en-US" sz="3000" b="1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让关键医疗信号不再被错过</a:t>
            </a:r>
            <a:endParaRPr lang="en-US" sz="3000" b="1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EFFBFF"/>
      </a:lt1>
      <a:dk2>
        <a:srgbClr val="002F40"/>
      </a:dk2>
      <a:lt2>
        <a:srgbClr val="FFFFFF"/>
      </a:lt2>
      <a:accent1>
        <a:srgbClr val="3045FD"/>
      </a:accent1>
      <a:accent2>
        <a:srgbClr val="0085FF"/>
      </a:accent2>
      <a:accent3>
        <a:srgbClr val="2947E8"/>
      </a:accent3>
      <a:accent4>
        <a:srgbClr val="3CD6DF"/>
      </a:accent4>
      <a:accent5>
        <a:srgbClr val="73DDE3"/>
      </a:accent5>
      <a:accent6>
        <a:srgbClr val="FFC67C"/>
      </a:accent6>
      <a:hlink>
        <a:srgbClr val="00B6FF"/>
      </a:hlink>
      <a:folHlink>
        <a:srgbClr val="00B6F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2728</Words>
  <Application>WPS 演示</Application>
  <PresentationFormat>宽屏</PresentationFormat>
  <Paragraphs>414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SC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冯亦根</cp:lastModifiedBy>
  <cp:revision>4</cp:revision>
  <dcterms:created xsi:type="dcterms:W3CDTF">2025-10-20T11:38:00Z</dcterms:created>
  <dcterms:modified xsi:type="dcterms:W3CDTF">2026-08-28T23:13:35Z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alue1","ContentProducer":"001191110000802100433B11010001191110000802100433B11010","ProduceID":"d3c54500-568b-46c3-bde8-1197480b9740","ReservedCode1":"72dafc97cd38b92e5f3d5cdfd0dfbbe6","ContentPropagator":"001191110000802100433B11010001191110000802100433B11010","PropagateID":"2cf8be40-5301-443f-9bd3-a7b9abb70365","ReservedCode2":"2734827274df537123a472bf4de01eb5"}</vt:lpwstr>
  </property>
  <property fmtid="{D5CDD505-2E9C-101B-9397-08002B2CF9AE}" pid="3" name="ICV">
    <vt:lpwstr>1B74525F8AEF486C993AAFF1FAA9BF3B_12</vt:lpwstr>
  </property>
  <property fmtid="{D5CDD505-2E9C-101B-9397-08002B2CF9AE}" pid="4" name="KSOProductBuildVer">
    <vt:lpwstr>2052-12.1.0.28043</vt:lpwstr>
  </property>
</Properties>
</file>